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ee8683c4c86433f" /><Relationship Type="http://schemas.openxmlformats.org/officeDocument/2006/relationships/extended-properties" Target="/docProps/app.xml" Id="R6bc1f0d33eef4b30" /><Relationship Type="http://schemas.openxmlformats.org/officeDocument/2006/relationships/officeDocument" Target="/ppt/presentation.xml" Id="R9402b3757c74426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754169e6a1f4450"/>
  </p:sldMasterIdLst>
  <p:notesMasterIdLst>
    <p:notesMasterId xmlns:r="http://schemas.openxmlformats.org/officeDocument/2006/relationships" r:id="R1db3c68ecf83447d"/>
  </p:notesMasterIdLst>
  <p:sldIdLst>
    <p:sldId xmlns:r="http://schemas.openxmlformats.org/officeDocument/2006/relationships" id="256" r:id="R390bd4febc2a43e5"/>
  </p:sldIdLst>
  <p:sldSz cx="12192000" cy="6096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3ef545866ea4ad8" /><Relationship Type="http://schemas.openxmlformats.org/officeDocument/2006/relationships/slideMaster" Target="/ppt/slideMasters/slideMaster1.xml" Id="R6754169e6a1f4450" /><Relationship Type="http://schemas.openxmlformats.org/officeDocument/2006/relationships/notesMaster" Target="/ppt/notesMasters/notesMaster1.xml" Id="R1db3c68ecf83447d" /><Relationship Type="http://schemas.openxmlformats.org/officeDocument/2006/relationships/presProps" Target="/ppt/presProps.xml" Id="Ra16b8ea7126b42d6" /><Relationship Type="http://schemas.openxmlformats.org/officeDocument/2006/relationships/tableStyles" Target="/ppt/tableStyles.xml" Id="R37d437096f984360" /><Relationship Type="http://schemas.openxmlformats.org/officeDocument/2006/relationships/slide" Target="/ppt/slides/slide1.xml" Id="R390bd4febc2a43e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6a48e3adef1471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13eab970eb14483" /><Relationship Type="http://schemas.openxmlformats.org/officeDocument/2006/relationships/notesMaster" Target="/ppt/notesMasters/notesMaster1.xml" Id="R1282f1dfa063415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793a8cec77c4f5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c5419df22a44a38" /><Relationship Type="http://schemas.openxmlformats.org/officeDocument/2006/relationships/slideLayout" Target="/ppt/slideLayouts/slideLayout1.xml" Id="R0bba223edf8d45f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bba223edf8d45f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25ab31fa077468c" /><Relationship Type="http://schemas.openxmlformats.org/officeDocument/2006/relationships/notesSlide" Target="/ppt/notesSlides/notesSlide1.xml" Id="R656fb28e7a6e489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7" name="social-accent-bar">
            <a:extLst xmlns:a="http://schemas.openxmlformats.org/drawingml/2006/main">
              <a:ext uri="{FF2B5EF4-FFF2-40B4-BE49-F238E27FC236}">
                <a16:creationId xmlns:a16="http://schemas.microsoft.com/office/drawing/2014/main" id="{97382E73-F49D-4DB2-A50D-D6D841A78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0" y="0"/>
            <a:ext cx="133350" cy="609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78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social-eyebrow">
            <a:extLst xmlns:a="http://schemas.openxmlformats.org/drawingml/2006/main">
              <a:ext uri="{FF2B5EF4-FFF2-40B4-BE49-F238E27FC236}">
                <a16:creationId xmlns:a16="http://schemas.microsoft.com/office/drawing/2014/main" id="{74C527EC-7E67-4A5F-9588-7F06EFE6B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6750" y="552450"/>
            <a:ext cx="409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6785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6785F"/>
                </a:solidFill>
                <a:latin typeface="Arial"/>
                <a:ea typeface="Arial"/>
                <a:cs typeface="Arial"/>
              </a:rPr>
              <a:t>OPEN REFERENCE IMPLEMENTATION</a:t>
            </a:r>
          </a:p>
        </p:txBody>
      </p:sp>
      <p:sp>
        <p:nvSpPr>
          <p:cNvPr id="3" name="social-title">
            <a:extLst xmlns:a="http://schemas.openxmlformats.org/drawingml/2006/main">
              <a:ext uri="{FF2B5EF4-FFF2-40B4-BE49-F238E27FC236}">
                <a16:creationId xmlns:a16="http://schemas.microsoft.com/office/drawing/2014/main" id="{02E7C556-4B99-461A-BCB1-34DC5D00C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6750" y="1085850"/>
            <a:ext cx="514350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26355F"/>
                </a:solidFill>
                <a:latin typeface="Arial"/>
                <a:ea typeface="Arial"/>
                <a:cs typeface="Arial"/>
              </a:defRPr>
            </a:pPr>
            <a:r>
              <a:rPr sz="3900" b="1">
                <a:solidFill>
                  <a:srgbClr val="26355F"/>
                </a:solidFill>
                <a:latin typeface="Arial"/>
                <a:ea typeface="Arial"/>
                <a:cs typeface="Arial"/>
              </a:rPr>
              <a:t>Governed review</a:t>
            </a:r>
          </a:p>
          <a:p xmlns:a="http://schemas.openxmlformats.org/drawingml/2006/main">
            <a:pPr algn="l">
              <a:defRPr sz="3900" b="1">
                <a:solidFill>
                  <a:srgbClr val="26355F"/>
                </a:solidFill>
                <a:latin typeface="Arial"/>
                <a:ea typeface="Arial"/>
                <a:cs typeface="Arial"/>
              </a:defRPr>
            </a:pPr>
            <a:r>
              <a:rPr sz="3900" b="1">
                <a:solidFill>
                  <a:srgbClr val="26355F"/>
                </a:solidFill>
                <a:latin typeface="Arial"/>
                <a:ea typeface="Arial"/>
                <a:cs typeface="Arial"/>
              </a:rPr>
              <a:t>queues</a:t>
            </a:r>
          </a:p>
        </p:txBody>
      </p:sp>
      <p:sp>
        <p:nvSpPr>
          <p:cNvPr id="4" name="social-subtitle">
            <a:extLst xmlns:a="http://schemas.openxmlformats.org/drawingml/2006/main">
              <a:ext uri="{FF2B5EF4-FFF2-40B4-BE49-F238E27FC236}">
                <a16:creationId xmlns:a16="http://schemas.microsoft.com/office/drawing/2014/main" id="{2108D21C-5E5D-44F1-80A3-6150357A1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6750" y="2724150"/>
            <a:ext cx="4953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637077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637077"/>
                </a:solidFill>
                <a:latin typeface="Arial"/>
                <a:ea typeface="Arial"/>
                <a:cs typeface="Arial"/>
              </a:rPr>
              <a:t>Deterministic, fixed-capacity selection for multipathogen wastewater surveillance.</a:t>
            </a:r>
          </a:p>
        </p:txBody>
      </p:sp>
      <p:sp>
        <p:nvSpPr>
          <p:cNvPr id="5" name="social-repo">
            <a:extLst xmlns:a="http://schemas.openxmlformats.org/drawingml/2006/main">
              <a:ext uri="{FF2B5EF4-FFF2-40B4-BE49-F238E27FC236}">
                <a16:creationId xmlns:a16="http://schemas.microsoft.com/office/drawing/2014/main" id="{776E19F5-ED8D-46FB-B7DF-9936B8CCB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6750" y="3943350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26355F"/>
                </a:solidFill>
                <a:latin typeface="Courier New"/>
                <a:ea typeface="Courier New"/>
                <a:cs typeface="Courier New"/>
              </a:defRPr>
            </a:pPr>
            <a:r>
              <a:rPr sz="1200" b="0">
                <a:solidFill>
                  <a:srgbClr val="26355F"/>
                </a:solidFill>
                <a:latin typeface="Courier New"/>
                <a:ea typeface="Courier New"/>
                <a:cs typeface="Courier New"/>
              </a:rPr>
              <a:t>github.com/SiqiLi77/governed-wastewater-review-queues</a:t>
            </a:r>
          </a:p>
        </p:txBody>
      </p:sp>
      <p:sp>
        <p:nvSpPr>
          <p:cNvPr id="6" name="social-flow-heading">
            <a:extLst xmlns:a="http://schemas.openxmlformats.org/drawingml/2006/main">
              <a:ext uri="{FF2B5EF4-FFF2-40B4-BE49-F238E27FC236}">
                <a16:creationId xmlns:a16="http://schemas.microsoft.com/office/drawing/2014/main" id="{E7EABD39-C014-4523-BA40-0064256E9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705600" y="1076325"/>
            <a:ext cx="40576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6355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6355F"/>
                </a:solidFill>
                <a:latin typeface="Arial"/>
                <a:ea typeface="Arial"/>
                <a:cs typeface="Arial"/>
              </a:rPr>
              <a:t>Selection contract</a:t>
            </a:r>
          </a:p>
        </p:txBody>
      </p:sp>
      <p:sp>
        <p:nvSpPr>
          <p:cNvPr id="7" name="social-flow-rule">
            <a:extLst xmlns:a="http://schemas.openxmlformats.org/drawingml/2006/main">
              <a:ext uri="{FF2B5EF4-FFF2-40B4-BE49-F238E27FC236}">
                <a16:creationId xmlns:a16="http://schemas.microsoft.com/office/drawing/2014/main" id="{CAC03F8A-6837-491C-AC66-2312B9B75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705600" y="1457325"/>
            <a:ext cx="4057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CAD3D4"/>
            </a:solidFill>
            <a:prstDash val="solid"/>
          </a:ln>
        </p:spPr>
      </p:sp>
      <p:sp>
        <p:nvSpPr>
          <p:cNvPr id="8" name="social-arrow-1">
            <a:extLst xmlns:a="http://schemas.openxmlformats.org/drawingml/2006/main">
              <a:ext uri="{FF2B5EF4-FFF2-40B4-BE49-F238E27FC236}">
                <a16:creationId xmlns:a16="http://schemas.microsoft.com/office/drawing/2014/main" id="{D755BDA2-D49E-41A9-AAE5-229F8BA5B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677150" y="2733675"/>
            <a:ext cx="40005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6E4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social-arrow-2">
            <a:extLst xmlns:a="http://schemas.openxmlformats.org/drawingml/2006/main">
              <a:ext uri="{FF2B5EF4-FFF2-40B4-BE49-F238E27FC236}">
                <a16:creationId xmlns:a16="http://schemas.microsoft.com/office/drawing/2014/main" id="{40C073FF-FD2B-4C16-A998-8EE1260C7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182100" y="2733675"/>
            <a:ext cx="40005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E6F1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social-candidate-sheet">
            <a:extLst xmlns:a="http://schemas.openxmlformats.org/drawingml/2006/main">
              <a:ext uri="{FF2B5EF4-FFF2-40B4-BE49-F238E27FC236}">
                <a16:creationId xmlns:a16="http://schemas.microsoft.com/office/drawing/2014/main" id="{E01EA2B8-292F-4DD5-BFD7-E426B0286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705600" y="2028825"/>
            <a:ext cx="95250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7145">
            <a:solidFill>
              <a:srgbClr val="26355F"/>
            </a:solidFill>
            <a:prstDash val="solid"/>
          </a:ln>
        </p:spPr>
      </p:sp>
      <p:sp>
        <p:nvSpPr>
          <p:cNvPr id="11" name="social-candidate-header">
            <a:extLst xmlns:a="http://schemas.openxmlformats.org/drawingml/2006/main">
              <a:ext uri="{FF2B5EF4-FFF2-40B4-BE49-F238E27FC236}">
                <a16:creationId xmlns:a16="http://schemas.microsoft.com/office/drawing/2014/main" id="{31784001-922A-4135-8BE8-28C159942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705600" y="2028825"/>
            <a:ext cx="952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3F6"/>
          </a:solidFill>
          <a:ln xmlns:a="http://schemas.openxmlformats.org/drawingml/2006/main" w="11430">
            <a:solidFill>
              <a:srgbClr val="26355F"/>
            </a:solidFill>
            <a:prstDash val="solid"/>
          </a:ln>
        </p:spPr>
      </p:sp>
      <p:sp>
        <p:nvSpPr>
          <p:cNvPr id="12" name="social-candidate-1">
            <a:extLst xmlns:a="http://schemas.openxmlformats.org/drawingml/2006/main">
              <a:ext uri="{FF2B5EF4-FFF2-40B4-BE49-F238E27FC236}">
                <a16:creationId xmlns:a16="http://schemas.microsoft.com/office/drawing/2014/main" id="{B9E28982-FEC4-4C0F-8D26-52C337E92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58000" y="2486025"/>
            <a:ext cx="171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5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social-candidate-line-1">
            <a:extLst xmlns:a="http://schemas.openxmlformats.org/drawingml/2006/main">
              <a:ext uri="{FF2B5EF4-FFF2-40B4-BE49-F238E27FC236}">
                <a16:creationId xmlns:a16="http://schemas.microsoft.com/office/drawing/2014/main" id="{B3EB3C14-1DE8-4861-806E-C2A7DE84C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7143750" y="2571750"/>
            <a:ext cx="3429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AD3D4"/>
            </a:solidFill>
            <a:prstDash val="solid"/>
          </a:ln>
        </p:spPr>
      </p:sp>
      <p:sp>
        <p:nvSpPr>
          <p:cNvPr id="14" name="social-candidate-2">
            <a:extLst xmlns:a="http://schemas.openxmlformats.org/drawingml/2006/main">
              <a:ext uri="{FF2B5EF4-FFF2-40B4-BE49-F238E27FC236}">
                <a16:creationId xmlns:a16="http://schemas.microsoft.com/office/drawing/2014/main" id="{B532F4E0-D128-4510-A22D-0D13DEEEB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58000" y="284797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7FA0"/>
          </a:solidFill>
          <a:ln xmlns:a="http://schemas.openxmlformats.org/drawingml/2006/main" w="7620">
            <a:solidFill>
              <a:srgbClr val="26355F"/>
            </a:solidFill>
            <a:prstDash val="solid"/>
          </a:ln>
        </p:spPr>
      </p:sp>
      <p:sp>
        <p:nvSpPr>
          <p:cNvPr id="15" name="social-candidate-line-2">
            <a:extLst xmlns:a="http://schemas.openxmlformats.org/drawingml/2006/main">
              <a:ext uri="{FF2B5EF4-FFF2-40B4-BE49-F238E27FC236}">
                <a16:creationId xmlns:a16="http://schemas.microsoft.com/office/drawing/2014/main" id="{1B8792B6-6F44-45C6-AEE7-5FE140643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7143750" y="2933700"/>
            <a:ext cx="3429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AD3D4"/>
            </a:solidFill>
            <a:prstDash val="solid"/>
          </a:ln>
        </p:spPr>
      </p:sp>
      <p:sp>
        <p:nvSpPr>
          <p:cNvPr id="16" name="social-candidate-3">
            <a:extLst xmlns:a="http://schemas.openxmlformats.org/drawingml/2006/main">
              <a:ext uri="{FF2B5EF4-FFF2-40B4-BE49-F238E27FC236}">
                <a16:creationId xmlns:a16="http://schemas.microsoft.com/office/drawing/2014/main" id="{ADB89A46-A6EB-429B-B19D-1EAF6BAC1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58000" y="3209925"/>
            <a:ext cx="171450" cy="17145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765A8D"/>
          </a:solidFill>
          <a:ln xmlns:a="http://schemas.openxmlformats.org/drawingml/2006/main" w="7620">
            <a:solidFill>
              <a:srgbClr val="26355F"/>
            </a:solidFill>
            <a:prstDash val="solid"/>
          </a:ln>
        </p:spPr>
      </p:sp>
      <p:sp>
        <p:nvSpPr>
          <p:cNvPr id="17" name="social-candidate-line-3">
            <a:extLst xmlns:a="http://schemas.openxmlformats.org/drawingml/2006/main">
              <a:ext uri="{FF2B5EF4-FFF2-40B4-BE49-F238E27FC236}">
                <a16:creationId xmlns:a16="http://schemas.microsoft.com/office/drawing/2014/main" id="{EBAB8413-7E67-45FE-B489-78D13E006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7143750" y="3295650"/>
            <a:ext cx="3429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AD3D4"/>
            </a:solidFill>
            <a:prstDash val="solid"/>
          </a:ln>
        </p:spPr>
      </p:sp>
      <p:sp>
        <p:nvSpPr>
          <p:cNvPr id="18" name="social-fixed-label">
            <a:extLst xmlns:a="http://schemas.openxmlformats.org/drawingml/2006/main">
              <a:ext uri="{FF2B5EF4-FFF2-40B4-BE49-F238E27FC236}">
                <a16:creationId xmlns:a16="http://schemas.microsoft.com/office/drawing/2014/main" id="{CEF54BA7-FC63-406B-A707-A2F149F33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143875" y="2257425"/>
            <a:ext cx="9810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6785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6785F"/>
                </a:solidFill>
                <a:latin typeface="Arial"/>
                <a:ea typeface="Arial"/>
                <a:cs typeface="Arial"/>
              </a:rPr>
              <a:t>FIXED</a:t>
            </a:r>
          </a:p>
        </p:txBody>
      </p:sp>
      <p:sp>
        <p:nvSpPr>
          <p:cNvPr id="19" name="social-slot-1">
            <a:extLst xmlns:a="http://schemas.openxmlformats.org/drawingml/2006/main">
              <a:ext uri="{FF2B5EF4-FFF2-40B4-BE49-F238E27FC236}">
                <a16:creationId xmlns:a16="http://schemas.microsoft.com/office/drawing/2014/main" id="{CCFDAD51-F943-447D-AC19-13E1A4EE3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134350" y="2581275"/>
            <a:ext cx="457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F1EB"/>
          </a:solidFill>
          <a:ln xmlns:a="http://schemas.openxmlformats.org/drawingml/2006/main" w="13335">
            <a:solidFill>
              <a:srgbClr val="26785F"/>
            </a:solidFill>
            <a:prstDash val="solid"/>
          </a:ln>
        </p:spPr>
      </p:sp>
      <p:sp>
        <p:nvSpPr>
          <p:cNvPr id="20" name="social-slot-token-1">
            <a:extLst xmlns:a="http://schemas.openxmlformats.org/drawingml/2006/main">
              <a:ext uri="{FF2B5EF4-FFF2-40B4-BE49-F238E27FC236}">
                <a16:creationId xmlns:a16="http://schemas.microsoft.com/office/drawing/2014/main" id="{00287579-A3D5-47FB-81E0-7EC79DB2C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267700" y="2714625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7FA0"/>
          </a:solidFill>
          <a:ln xmlns:a="http://schemas.openxmlformats.org/drawingml/2006/main" w="7620">
            <a:solidFill>
              <a:srgbClr val="26355F"/>
            </a:solidFill>
            <a:prstDash val="solid"/>
          </a:ln>
        </p:spPr>
      </p:sp>
      <p:sp>
        <p:nvSpPr>
          <p:cNvPr id="21" name="social-slot-2">
            <a:extLst xmlns:a="http://schemas.openxmlformats.org/drawingml/2006/main">
              <a:ext uri="{FF2B5EF4-FFF2-40B4-BE49-F238E27FC236}">
                <a16:creationId xmlns:a16="http://schemas.microsoft.com/office/drawing/2014/main" id="{FBA386A9-AA88-42FF-AC19-AF279719C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648700" y="2581275"/>
            <a:ext cx="457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F1EB"/>
          </a:solidFill>
          <a:ln xmlns:a="http://schemas.openxmlformats.org/drawingml/2006/main" w="13335">
            <a:solidFill>
              <a:srgbClr val="26785F"/>
            </a:solidFill>
            <a:prstDash val="solid"/>
          </a:ln>
        </p:spPr>
      </p:sp>
      <p:sp>
        <p:nvSpPr>
          <p:cNvPr id="22" name="social-slot-token-2">
            <a:extLst xmlns:a="http://schemas.openxmlformats.org/drawingml/2006/main">
              <a:ext uri="{FF2B5EF4-FFF2-40B4-BE49-F238E27FC236}">
                <a16:creationId xmlns:a16="http://schemas.microsoft.com/office/drawing/2014/main" id="{1E21DCE3-DEA7-4040-9EA4-259B132E2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782050" y="2714625"/>
            <a:ext cx="190500" cy="19050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765A8D"/>
          </a:solidFill>
          <a:ln xmlns:a="http://schemas.openxmlformats.org/drawingml/2006/main" w="7620">
            <a:solidFill>
              <a:srgbClr val="26355F"/>
            </a:solidFill>
            <a:prstDash val="solid"/>
          </a:ln>
        </p:spPr>
      </p:sp>
      <p:sp>
        <p:nvSpPr>
          <p:cNvPr id="23" name="social-slot-3">
            <a:extLst xmlns:a="http://schemas.openxmlformats.org/drawingml/2006/main">
              <a:ext uri="{FF2B5EF4-FFF2-40B4-BE49-F238E27FC236}">
                <a16:creationId xmlns:a16="http://schemas.microsoft.com/office/drawing/2014/main" id="{9E10AB4D-7B9F-4065-BFDE-0D421A230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134350" y="3095625"/>
            <a:ext cx="457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26355F"/>
            </a:solidFill>
            <a:prstDash val="solid"/>
          </a:ln>
        </p:spPr>
      </p:sp>
      <p:sp>
        <p:nvSpPr>
          <p:cNvPr id="24" name="social-slot-token-3">
            <a:extLst xmlns:a="http://schemas.openxmlformats.org/drawingml/2006/main">
              <a:ext uri="{FF2B5EF4-FFF2-40B4-BE49-F238E27FC236}">
                <a16:creationId xmlns:a16="http://schemas.microsoft.com/office/drawing/2014/main" id="{B7DBE308-BDAB-4D10-BC56-90E084D79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267700" y="3228975"/>
            <a:ext cx="19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5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social-slot-4">
            <a:extLst xmlns:a="http://schemas.openxmlformats.org/drawingml/2006/main">
              <a:ext uri="{FF2B5EF4-FFF2-40B4-BE49-F238E27FC236}">
                <a16:creationId xmlns:a16="http://schemas.microsoft.com/office/drawing/2014/main" id="{B3AA2D24-86F1-44C6-AB8A-4170CC185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648700" y="3095625"/>
            <a:ext cx="457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26355F"/>
            </a:solidFill>
            <a:prstDash val="solid"/>
          </a:ln>
        </p:spPr>
      </p:sp>
      <p:sp>
        <p:nvSpPr>
          <p:cNvPr id="26" name="social-slot-token-4">
            <a:extLst xmlns:a="http://schemas.openxmlformats.org/drawingml/2006/main">
              <a:ext uri="{FF2B5EF4-FFF2-40B4-BE49-F238E27FC236}">
                <a16:creationId xmlns:a16="http://schemas.microsoft.com/office/drawing/2014/main" id="{D1C21513-962B-4E96-949F-0FDDA630C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782050" y="3228975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7FA0"/>
          </a:solidFill>
          <a:ln xmlns:a="http://schemas.openxmlformats.org/drawingml/2006/main" w="7620">
            <a:solidFill>
              <a:srgbClr val="26355F"/>
            </a:solidFill>
            <a:prstDash val="solid"/>
          </a:ln>
        </p:spPr>
      </p:sp>
      <p:sp>
        <p:nvSpPr>
          <p:cNvPr id="27" name="social-ledger">
            <a:extLst xmlns:a="http://schemas.openxmlformats.org/drawingml/2006/main">
              <a:ext uri="{FF2B5EF4-FFF2-40B4-BE49-F238E27FC236}">
                <a16:creationId xmlns:a16="http://schemas.microsoft.com/office/drawing/2014/main" id="{83C7D1BE-D38B-4D78-8E99-D17B2FCD1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601200" y="2028825"/>
            <a:ext cx="116205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7145">
            <a:solidFill>
              <a:srgbClr val="26355F"/>
            </a:solidFill>
            <a:prstDash val="solid"/>
          </a:ln>
        </p:spPr>
      </p:sp>
      <p:sp>
        <p:nvSpPr>
          <p:cNvPr id="28" name="social-ledger-header">
            <a:extLst xmlns:a="http://schemas.openxmlformats.org/drawingml/2006/main">
              <a:ext uri="{FF2B5EF4-FFF2-40B4-BE49-F238E27FC236}">
                <a16:creationId xmlns:a16="http://schemas.microsoft.com/office/drawing/2014/main" id="{C4C97356-3558-4FE6-A3C1-195D03891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601200" y="2028825"/>
            <a:ext cx="11620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AF3"/>
          </a:solidFill>
          <a:ln xmlns:a="http://schemas.openxmlformats.org/drawingml/2006/main" w="11430">
            <a:solidFill>
              <a:srgbClr val="26355F"/>
            </a:solidFill>
            <a:prstDash val="solid"/>
          </a:ln>
        </p:spPr>
      </p:sp>
      <p:sp>
        <p:nvSpPr>
          <p:cNvPr id="29" name="social-ledger-check-1-circle">
            <a:extLst xmlns:a="http://schemas.openxmlformats.org/drawingml/2006/main">
              <a:ext uri="{FF2B5EF4-FFF2-40B4-BE49-F238E27FC236}">
                <a16:creationId xmlns:a16="http://schemas.microsoft.com/office/drawing/2014/main" id="{1B42B912-A109-4F2B-A0B1-E47F34531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53600" y="2486025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26785F"/>
            </a:solidFill>
            <a:prstDash val="solid"/>
          </a:ln>
        </p:spPr>
      </p:sp>
      <p:sp>
        <p:nvSpPr>
          <p:cNvPr id="30" name="social-ledger-check-1-left">
            <a:extLst xmlns:a="http://schemas.openxmlformats.org/drawingml/2006/main">
              <a:ext uri="{FF2B5EF4-FFF2-40B4-BE49-F238E27FC236}">
                <a16:creationId xmlns:a16="http://schemas.microsoft.com/office/drawing/2014/main" id="{2798BCA5-247E-49C8-8E05-81C5635E7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9801225" y="2581275"/>
            <a:ext cx="38100" cy="381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6785F"/>
            </a:solidFill>
            <a:prstDash val="solid"/>
          </a:ln>
        </p:spPr>
      </p:sp>
      <p:sp>
        <p:nvSpPr>
          <p:cNvPr id="31" name="social-ledger-check-1-right">
            <a:extLst xmlns:a="http://schemas.openxmlformats.org/drawingml/2006/main">
              <a:ext uri="{FF2B5EF4-FFF2-40B4-BE49-F238E27FC236}">
                <a16:creationId xmlns:a16="http://schemas.microsoft.com/office/drawing/2014/main" id="{18FCB082-8C8C-44FC-A484-CB7D0AC06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9839325" y="2543175"/>
            <a:ext cx="66675" cy="762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6785F"/>
            </a:solidFill>
            <a:prstDash val="solid"/>
          </a:ln>
        </p:spPr>
      </p:sp>
      <p:sp>
        <p:nvSpPr>
          <p:cNvPr id="32" name="social-ledger-line-1">
            <a:extLst xmlns:a="http://schemas.openxmlformats.org/drawingml/2006/main">
              <a:ext uri="{FF2B5EF4-FFF2-40B4-BE49-F238E27FC236}">
                <a16:creationId xmlns:a16="http://schemas.microsoft.com/office/drawing/2014/main" id="{1027B84B-607D-481F-9D9C-AE4950D0B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0029825" y="2581275"/>
            <a:ext cx="5619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AD3D4"/>
            </a:solidFill>
            <a:prstDash val="solid"/>
          </a:ln>
        </p:spPr>
      </p:sp>
      <p:sp>
        <p:nvSpPr>
          <p:cNvPr id="33" name="social-ledger-check-2-circle">
            <a:extLst xmlns:a="http://schemas.openxmlformats.org/drawingml/2006/main">
              <a:ext uri="{FF2B5EF4-FFF2-40B4-BE49-F238E27FC236}">
                <a16:creationId xmlns:a16="http://schemas.microsoft.com/office/drawing/2014/main" id="{F642904C-EE35-4C3E-85A2-5B77045C1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53600" y="285750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26785F"/>
            </a:solidFill>
            <a:prstDash val="solid"/>
          </a:ln>
        </p:spPr>
      </p:sp>
      <p:sp>
        <p:nvSpPr>
          <p:cNvPr id="34" name="social-ledger-check-2-left">
            <a:extLst xmlns:a="http://schemas.openxmlformats.org/drawingml/2006/main">
              <a:ext uri="{FF2B5EF4-FFF2-40B4-BE49-F238E27FC236}">
                <a16:creationId xmlns:a16="http://schemas.microsoft.com/office/drawing/2014/main" id="{A3F3E5B6-27C2-4EAE-B398-D50BB23FC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9801225" y="2952750"/>
            <a:ext cx="38100" cy="381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6785F"/>
            </a:solidFill>
            <a:prstDash val="solid"/>
          </a:ln>
        </p:spPr>
      </p:sp>
      <p:sp>
        <p:nvSpPr>
          <p:cNvPr id="35" name="social-ledger-check-2-right">
            <a:extLst xmlns:a="http://schemas.openxmlformats.org/drawingml/2006/main">
              <a:ext uri="{FF2B5EF4-FFF2-40B4-BE49-F238E27FC236}">
                <a16:creationId xmlns:a16="http://schemas.microsoft.com/office/drawing/2014/main" id="{20363D09-B271-49C0-9D19-38F026E4F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9839325" y="2914650"/>
            <a:ext cx="66675" cy="762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6785F"/>
            </a:solidFill>
            <a:prstDash val="solid"/>
          </a:ln>
        </p:spPr>
      </p:sp>
      <p:sp>
        <p:nvSpPr>
          <p:cNvPr id="36" name="social-ledger-line-2">
            <a:extLst xmlns:a="http://schemas.openxmlformats.org/drawingml/2006/main">
              <a:ext uri="{FF2B5EF4-FFF2-40B4-BE49-F238E27FC236}">
                <a16:creationId xmlns:a16="http://schemas.microsoft.com/office/drawing/2014/main" id="{5D74AD9A-1FCB-4F9F-A7C7-DDF34EDFD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0029825" y="2952750"/>
            <a:ext cx="5619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AD3D4"/>
            </a:solidFill>
            <a:prstDash val="solid"/>
          </a:ln>
        </p:spPr>
      </p:sp>
      <p:sp>
        <p:nvSpPr>
          <p:cNvPr id="37" name="social-ledger-check-3-circle">
            <a:extLst xmlns:a="http://schemas.openxmlformats.org/drawingml/2006/main">
              <a:ext uri="{FF2B5EF4-FFF2-40B4-BE49-F238E27FC236}">
                <a16:creationId xmlns:a16="http://schemas.microsoft.com/office/drawing/2014/main" id="{2607B661-C853-4FDD-A2C5-2C76DB3BE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53600" y="3228975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26785F"/>
            </a:solidFill>
            <a:prstDash val="solid"/>
          </a:ln>
        </p:spPr>
      </p:sp>
      <p:sp>
        <p:nvSpPr>
          <p:cNvPr id="38" name="social-ledger-check-3-left">
            <a:extLst xmlns:a="http://schemas.openxmlformats.org/drawingml/2006/main">
              <a:ext uri="{FF2B5EF4-FFF2-40B4-BE49-F238E27FC236}">
                <a16:creationId xmlns:a16="http://schemas.microsoft.com/office/drawing/2014/main" id="{8C084910-7012-4FA2-9220-FCC021E93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9801225" y="3324225"/>
            <a:ext cx="38100" cy="381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6785F"/>
            </a:solidFill>
            <a:prstDash val="solid"/>
          </a:ln>
        </p:spPr>
      </p:sp>
      <p:sp>
        <p:nvSpPr>
          <p:cNvPr id="39" name="social-ledger-check-3-right">
            <a:extLst xmlns:a="http://schemas.openxmlformats.org/drawingml/2006/main">
              <a:ext uri="{FF2B5EF4-FFF2-40B4-BE49-F238E27FC236}">
                <a16:creationId xmlns:a16="http://schemas.microsoft.com/office/drawing/2014/main" id="{3FB2510F-BD4D-44F7-BC66-591A35E2B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9839325" y="3286125"/>
            <a:ext cx="66675" cy="762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6785F"/>
            </a:solidFill>
            <a:prstDash val="solid"/>
          </a:ln>
        </p:spPr>
      </p:sp>
      <p:sp>
        <p:nvSpPr>
          <p:cNvPr id="40" name="social-ledger-line-3">
            <a:extLst xmlns:a="http://schemas.openxmlformats.org/drawingml/2006/main">
              <a:ext uri="{FF2B5EF4-FFF2-40B4-BE49-F238E27FC236}">
                <a16:creationId xmlns:a16="http://schemas.microsoft.com/office/drawing/2014/main" id="{AF7A3A84-9AC5-48AF-A8B2-F7558F751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0029825" y="3324225"/>
            <a:ext cx="5619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AD3D4"/>
            </a:solidFill>
            <a:prstDash val="solid"/>
          </a:ln>
        </p:spPr>
      </p:sp>
      <p:sp>
        <p:nvSpPr>
          <p:cNvPr id="41" name="social-candidates-label">
            <a:extLst xmlns:a="http://schemas.openxmlformats.org/drawingml/2006/main">
              <a:ext uri="{FF2B5EF4-FFF2-40B4-BE49-F238E27FC236}">
                <a16:creationId xmlns:a16="http://schemas.microsoft.com/office/drawing/2014/main" id="{DCED8E79-E1B0-4AA0-B28C-8BAECFD57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705600" y="3790950"/>
            <a:ext cx="95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637077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37077"/>
                </a:solidFill>
                <a:latin typeface="Arial"/>
                <a:ea typeface="Arial"/>
                <a:cs typeface="Arial"/>
              </a:rPr>
              <a:t>ranked candidates</a:t>
            </a:r>
          </a:p>
        </p:txBody>
      </p:sp>
      <p:sp>
        <p:nvSpPr>
          <p:cNvPr id="42" name="social-queue-label">
            <a:extLst xmlns:a="http://schemas.openxmlformats.org/drawingml/2006/main">
              <a:ext uri="{FF2B5EF4-FFF2-40B4-BE49-F238E27FC236}">
                <a16:creationId xmlns:a16="http://schemas.microsoft.com/office/drawing/2014/main" id="{56BA23D2-DB2F-403E-A3F3-FE36AA031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134350" y="3790950"/>
            <a:ext cx="990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6785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6785F"/>
                </a:solidFill>
                <a:latin typeface="Arial"/>
                <a:ea typeface="Arial"/>
                <a:cs typeface="Arial"/>
              </a:rPr>
              <a:t>fixed queue</a:t>
            </a:r>
          </a:p>
        </p:txBody>
      </p:sp>
      <p:sp>
        <p:nvSpPr>
          <p:cNvPr id="43" name="social-ledger-label">
            <a:extLst xmlns:a="http://schemas.openxmlformats.org/drawingml/2006/main">
              <a:ext uri="{FF2B5EF4-FFF2-40B4-BE49-F238E27FC236}">
                <a16:creationId xmlns:a16="http://schemas.microsoft.com/office/drawing/2014/main" id="{A9029247-9690-44D5-A65E-B360BB3C8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601200" y="3790950"/>
            <a:ext cx="1162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765A8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765A8D"/>
                </a:solidFill>
                <a:latin typeface="Arial"/>
                <a:ea typeface="Arial"/>
                <a:cs typeface="Arial"/>
              </a:rPr>
              <a:t>slot ledger</a:t>
            </a:r>
          </a:p>
        </p:txBody>
      </p:sp>
      <p:sp>
        <p:nvSpPr>
          <p:cNvPr id="44" name="social-method-line">
            <a:extLst xmlns:a="http://schemas.openxmlformats.org/drawingml/2006/main">
              <a:ext uri="{FF2B5EF4-FFF2-40B4-BE49-F238E27FC236}">
                <a16:creationId xmlns:a16="http://schemas.microsoft.com/office/drawing/2014/main" id="{B9651859-4498-4949-8B24-175ACA38A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58075" y="4495800"/>
            <a:ext cx="2667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84178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637077"/>
                </a:solidFill>
                <a:latin typeface="Courier New"/>
                <a:ea typeface="Courier New"/>
                <a:cs typeface="Courier New"/>
              </a:defRPr>
            </a:pPr>
            <a:r>
              <a:rPr sz="1200" b="0">
                <a:solidFill>
                  <a:srgbClr val="637077"/>
                </a:solidFill>
                <a:latin typeface="Courier New"/>
                <a:ea typeface="Courier New"/>
                <a:cs typeface="Courier New"/>
              </a:rPr>
              <a:t>reserve  -&gt;  deduplicate  -&gt;  fill</a:t>
            </a:r>
          </a:p>
        </p:txBody>
      </p:sp>
      <p:sp>
        <p:nvSpPr>
          <p:cNvPr id="45" name="social-footer-divider">
            <a:extLst xmlns:a="http://schemas.openxmlformats.org/drawingml/2006/main">
              <a:ext uri="{FF2B5EF4-FFF2-40B4-BE49-F238E27FC236}">
                <a16:creationId xmlns:a16="http://schemas.microsoft.com/office/drawing/2014/main" id="{114E00D1-279C-4A6A-8717-449B05633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66750" y="4953000"/>
            <a:ext cx="48958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CAD3D4"/>
            </a:solidFill>
            <a:prstDash val="solid"/>
          </a:ln>
        </p:spPr>
      </p:sp>
      <p:sp>
        <p:nvSpPr>
          <p:cNvPr id="46" name="social-contract-line">
            <a:extLst xmlns:a="http://schemas.openxmlformats.org/drawingml/2006/main">
              <a:ext uri="{FF2B5EF4-FFF2-40B4-BE49-F238E27FC236}">
                <a16:creationId xmlns:a16="http://schemas.microsoft.com/office/drawing/2014/main" id="{40540A74-7B5D-4FCB-93A0-29358D9EA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6750" y="5124450"/>
            <a:ext cx="533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7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172027"/>
                </a:solidFill>
                <a:latin typeface="Arial"/>
                <a:ea typeface="Arial"/>
                <a:cs typeface="Arial"/>
              </a:rPr>
              <a:t>Stable ties  |  Fixed capacity  |  Explicit reserves  |  Audit ledger</a:t>
            </a:r>
          </a:p>
        </p:txBody>
      </p:sp>
    </p:spTree>
    <p:extLst>
      <p:ext uri="{BB962C8B-B14F-4D97-AF65-F5344CB8AC3E}">
        <p14:creationId xmlns:p14="http://schemas.microsoft.com/office/powerpoint/2010/main" val="65489314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2026-07-21T09:25:54.3810000Z</dcterms:created>
  <dcterms:modified xsi:type="dcterms:W3CDTF">2026-07-21T09:25:54.3810000Z</dcterms:modified>
</coreProperties>
</file>