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766df2bf53c42c7" /><Relationship Type="http://schemas.openxmlformats.org/officeDocument/2006/relationships/extended-properties" Target="/docProps/app.xml" Id="R7f3c8ebc60614686" /><Relationship Type="http://schemas.openxmlformats.org/officeDocument/2006/relationships/officeDocument" Target="/ppt/presentation.xml" Id="Rda7da0aeb9aa40f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641ab6b4b5f465c"/>
  </p:sldMasterIdLst>
  <p:notesMasterIdLst>
    <p:notesMasterId xmlns:r="http://schemas.openxmlformats.org/officeDocument/2006/relationships" r:id="Ra1aeffd4a8844f83"/>
  </p:notesMasterIdLst>
  <p:sldIdLst>
    <p:sldId xmlns:r="http://schemas.openxmlformats.org/officeDocument/2006/relationships" id="256" r:id="Ref746d387acb4676"/>
  </p:sldIdLst>
  <p:sldSz cx="12192000" cy="6096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e66a90781a146e6" /><Relationship Type="http://schemas.openxmlformats.org/officeDocument/2006/relationships/slideMaster" Target="/ppt/slideMasters/slideMaster1.xml" Id="R8641ab6b4b5f465c" /><Relationship Type="http://schemas.openxmlformats.org/officeDocument/2006/relationships/notesMaster" Target="/ppt/notesMasters/notesMaster1.xml" Id="Ra1aeffd4a8844f83" /><Relationship Type="http://schemas.openxmlformats.org/officeDocument/2006/relationships/presProps" Target="/ppt/presProps.xml" Id="R63ff1714db384f6a" /><Relationship Type="http://schemas.openxmlformats.org/officeDocument/2006/relationships/tableStyles" Target="/ppt/tableStyles.xml" Id="Ra0596ad6f8054be3" /><Relationship Type="http://schemas.openxmlformats.org/officeDocument/2006/relationships/slide" Target="/ppt/slides/slide1.xml" Id="Ref746d387acb467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56c4aaaa22b43c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67f880ddb1244f9" /><Relationship Type="http://schemas.openxmlformats.org/officeDocument/2006/relationships/notesMaster" Target="/ppt/notesMasters/notesMaster1.xml" Id="R65ef6657617944c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5475438af343d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b4846b4d2ff47ed" /><Relationship Type="http://schemas.openxmlformats.org/officeDocument/2006/relationships/slideLayout" Target="/ppt/slideLayouts/slideLayout1.xml" Id="R38034d95d20449d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8034d95d20449d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b77988e57449df" /><Relationship Type="http://schemas.openxmlformats.org/officeDocument/2006/relationships/notesSlide" Target="/ppt/notesSlides/notesSlide1.xml" Id="R44e630a9c4a3414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7" name="overview-takeaway">
            <a:extLst xmlns:a="http://schemas.openxmlformats.org/drawingml/2006/main">
              <a:ext uri="{FF2B5EF4-FFF2-40B4-BE49-F238E27FC236}">
                <a16:creationId xmlns:a16="http://schemas.microsoft.com/office/drawing/2014/main" id="{86B9D571-9E03-45B1-90FC-0E26F664F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3400" y="247650"/>
            <a:ext cx="111252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Constructing a governed evidence-review queue</a:t>
            </a:r>
          </a:p>
        </p:txBody>
      </p:sp>
      <p:sp>
        <p:nvSpPr>
          <p:cNvPr id="2" name="overview-subtitle">
            <a:extLst xmlns:a="http://schemas.openxmlformats.org/drawingml/2006/main">
              <a:ext uri="{FF2B5EF4-FFF2-40B4-BE49-F238E27FC236}">
                <a16:creationId xmlns:a16="http://schemas.microsoft.com/office/drawing/2014/main" id="{0E1BB48B-DC70-4B8A-BB63-B972E3301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3400" y="714375"/>
            <a:ext cx="11125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Illustrative records show one eligible evidence pool, one fixed capacity, and a source for every selected slot.</a:t>
            </a:r>
          </a:p>
        </p:txBody>
      </p:sp>
      <p:sp>
        <p:nvSpPr>
          <p:cNvPr id="3" name="overview-divider">
            <a:extLst xmlns:a="http://schemas.openxmlformats.org/drawingml/2006/main">
              <a:ext uri="{FF2B5EF4-FFF2-40B4-BE49-F238E27FC236}">
                <a16:creationId xmlns:a16="http://schemas.microsoft.com/office/drawing/2014/main" id="{E48B1D9C-A9F3-4BD9-9D53-11B6A8579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33400" y="1133475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4"/>
            </a:solidFill>
            <a:prstDash val="solid"/>
          </a:ln>
        </p:spPr>
      </p:sp>
      <p:sp>
        <p:nvSpPr>
          <p:cNvPr id="4" name="input-to-rank-arrow">
            <a:extLst xmlns:a="http://schemas.openxmlformats.org/drawingml/2006/main">
              <a:ext uri="{FF2B5EF4-FFF2-40B4-BE49-F238E27FC236}">
                <a16:creationId xmlns:a16="http://schemas.microsoft.com/office/drawing/2014/main" id="{8BE229B1-73EF-4DAE-B644-C2DB8D58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543175" y="2952750"/>
            <a:ext cx="3238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6E4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rank-to-allocation-arrow">
            <a:extLst xmlns:a="http://schemas.openxmlformats.org/drawingml/2006/main">
              <a:ext uri="{FF2B5EF4-FFF2-40B4-BE49-F238E27FC236}">
                <a16:creationId xmlns:a16="http://schemas.microsoft.com/office/drawing/2014/main" id="{148514FB-DBB1-4961-AAAB-570056CDD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76800" y="2952750"/>
            <a:ext cx="3238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6E4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allocation-to-result-arrow">
            <a:extLst xmlns:a="http://schemas.openxmlformats.org/drawingml/2006/main">
              <a:ext uri="{FF2B5EF4-FFF2-40B4-BE49-F238E27FC236}">
                <a16:creationId xmlns:a16="http://schemas.microsoft.com/office/drawing/2014/main" id="{BEF55140-EFC0-4AE0-91EE-117ECDB96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53575" y="2952750"/>
            <a:ext cx="3238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6E4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input-heading">
            <a:extLst xmlns:a="http://schemas.openxmlformats.org/drawingml/2006/main">
              <a:ext uri="{FF2B5EF4-FFF2-40B4-BE49-F238E27FC236}">
                <a16:creationId xmlns:a16="http://schemas.microsoft.com/office/drawing/2014/main" id="{9DEC1458-E2F6-43EA-A247-54B8E9AFC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0550" y="14287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Eligible evidence</a:t>
            </a:r>
          </a:p>
        </p:txBody>
      </p:sp>
      <p:sp>
        <p:nvSpPr>
          <p:cNvPr id="8" name="input-caption">
            <a:extLst xmlns:a="http://schemas.openxmlformats.org/drawingml/2006/main">
              <a:ext uri="{FF2B5EF4-FFF2-40B4-BE49-F238E27FC236}">
                <a16:creationId xmlns:a16="http://schemas.microsoft.com/office/drawing/2014/main" id="{0CBA03C8-CD55-4E23-B544-B4BC9C26B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0550" y="17716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375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Measurement-qualified candidates</a:t>
            </a:r>
          </a:p>
        </p:txBody>
      </p:sp>
      <p:sp>
        <p:nvSpPr>
          <p:cNvPr id="9" name="candidate-records-sheet">
            <a:extLst xmlns:a="http://schemas.openxmlformats.org/drawingml/2006/main">
              <a:ext uri="{FF2B5EF4-FFF2-40B4-BE49-F238E27FC236}">
                <a16:creationId xmlns:a16="http://schemas.microsoft.com/office/drawing/2014/main" id="{744498A8-69D6-442A-9027-2F739C6AF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0550" y="2209800"/>
            <a:ext cx="19050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26355F"/>
            </a:solidFill>
            <a:prstDash val="solid"/>
          </a:ln>
        </p:spPr>
      </p:sp>
      <p:sp>
        <p:nvSpPr>
          <p:cNvPr id="10" name="candidate-records-header">
            <a:extLst xmlns:a="http://schemas.openxmlformats.org/drawingml/2006/main">
              <a:ext uri="{FF2B5EF4-FFF2-40B4-BE49-F238E27FC236}">
                <a16:creationId xmlns:a16="http://schemas.microsoft.com/office/drawing/2014/main" id="{35782F68-02C4-40E1-98B5-B9E4BB28F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0550" y="2209800"/>
            <a:ext cx="1905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F6"/>
          </a:solidFill>
          <a:ln xmlns:a="http://schemas.openxmlformats.org/drawingml/2006/main" w="11430">
            <a:solidFill>
              <a:srgbClr val="26355F"/>
            </a:solidFill>
            <a:prstDash val="solid"/>
          </a:ln>
        </p:spPr>
      </p:sp>
      <p:sp>
        <p:nvSpPr>
          <p:cNvPr id="11" name="candidate-id-header">
            <a:extLst xmlns:a="http://schemas.openxmlformats.org/drawingml/2006/main">
              <a:ext uri="{FF2B5EF4-FFF2-40B4-BE49-F238E27FC236}">
                <a16:creationId xmlns:a16="http://schemas.microsoft.com/office/drawing/2014/main" id="{4F84D1B8-55F2-4591-8813-1AC70F0BD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850" y="2247900"/>
            <a:ext cx="10287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Evidence ID</a:t>
            </a:r>
          </a:p>
        </p:txBody>
      </p:sp>
      <p:sp>
        <p:nvSpPr>
          <p:cNvPr id="12" name="score-header">
            <a:extLst xmlns:a="http://schemas.openxmlformats.org/drawingml/2006/main">
              <a:ext uri="{FF2B5EF4-FFF2-40B4-BE49-F238E27FC236}">
                <a16:creationId xmlns:a16="http://schemas.microsoft.com/office/drawing/2014/main" id="{DDAE0421-0EEE-4384-ADD8-D5D6AB1FD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28800" y="2247900"/>
            <a:ext cx="552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Priority</a:t>
            </a:r>
          </a:p>
        </p:txBody>
      </p:sp>
      <p:sp>
        <p:nvSpPr>
          <p:cNvPr id="13" name="candidate-token-1">
            <a:extLst xmlns:a="http://schemas.openxmlformats.org/drawingml/2006/main">
              <a:ext uri="{FF2B5EF4-FFF2-40B4-BE49-F238E27FC236}">
                <a16:creationId xmlns:a16="http://schemas.microsoft.com/office/drawing/2014/main" id="{6DD54C64-FA04-4322-812C-63C187499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900" y="2667000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candidate-id-1">
            <a:extLst xmlns:a="http://schemas.openxmlformats.org/drawingml/2006/main">
              <a:ext uri="{FF2B5EF4-FFF2-40B4-BE49-F238E27FC236}">
                <a16:creationId xmlns:a16="http://schemas.microsoft.com/office/drawing/2014/main" id="{0ABE06EE-7847-494F-BA63-064855ED6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90600" y="26289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A07</a:t>
            </a:r>
          </a:p>
        </p:txBody>
      </p:sp>
      <p:sp>
        <p:nvSpPr>
          <p:cNvPr id="15" name="candidate-score-1">
            <a:extLst xmlns:a="http://schemas.openxmlformats.org/drawingml/2006/main">
              <a:ext uri="{FF2B5EF4-FFF2-40B4-BE49-F238E27FC236}">
                <a16:creationId xmlns:a16="http://schemas.microsoft.com/office/drawing/2014/main" id="{7C47CB34-4BA5-4D9D-8505-5C51CECE3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33575" y="2628900"/>
            <a:ext cx="4476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0.91</a:t>
            </a:r>
          </a:p>
        </p:txBody>
      </p:sp>
      <p:sp>
        <p:nvSpPr>
          <p:cNvPr id="16" name="candidate-row-line-1">
            <a:extLst xmlns:a="http://schemas.openxmlformats.org/drawingml/2006/main">
              <a:ext uri="{FF2B5EF4-FFF2-40B4-BE49-F238E27FC236}">
                <a16:creationId xmlns:a16="http://schemas.microsoft.com/office/drawing/2014/main" id="{B4FD4C59-73AA-4D64-B013-3CE706827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04850" y="2924175"/>
            <a:ext cx="16764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AD3D4"/>
            </a:solidFill>
            <a:prstDash val="solid"/>
          </a:ln>
        </p:spPr>
      </p:sp>
      <p:sp>
        <p:nvSpPr>
          <p:cNvPr id="17" name="candidate-token-2">
            <a:extLst xmlns:a="http://schemas.openxmlformats.org/drawingml/2006/main">
              <a:ext uri="{FF2B5EF4-FFF2-40B4-BE49-F238E27FC236}">
                <a16:creationId xmlns:a16="http://schemas.microsoft.com/office/drawing/2014/main" id="{7F228C3D-7885-4E29-AE4F-5E181833B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900" y="29813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7FA0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18" name="candidate-id-2">
            <a:extLst xmlns:a="http://schemas.openxmlformats.org/drawingml/2006/main">
              <a:ext uri="{FF2B5EF4-FFF2-40B4-BE49-F238E27FC236}">
                <a16:creationId xmlns:a16="http://schemas.microsoft.com/office/drawing/2014/main" id="{E6DBEFD0-D536-410A-8525-AFB49BE2F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90600" y="294322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B12</a:t>
            </a:r>
          </a:p>
        </p:txBody>
      </p:sp>
      <p:sp>
        <p:nvSpPr>
          <p:cNvPr id="19" name="candidate-score-2">
            <a:extLst xmlns:a="http://schemas.openxmlformats.org/drawingml/2006/main">
              <a:ext uri="{FF2B5EF4-FFF2-40B4-BE49-F238E27FC236}">
                <a16:creationId xmlns:a16="http://schemas.microsoft.com/office/drawing/2014/main" id="{5E33CA9B-FA99-43B7-A796-17314C65F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33575" y="2943225"/>
            <a:ext cx="4476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0.82</a:t>
            </a:r>
          </a:p>
        </p:txBody>
      </p:sp>
      <p:sp>
        <p:nvSpPr>
          <p:cNvPr id="20" name="candidate-row-line-2">
            <a:extLst xmlns:a="http://schemas.openxmlformats.org/drawingml/2006/main">
              <a:ext uri="{FF2B5EF4-FFF2-40B4-BE49-F238E27FC236}">
                <a16:creationId xmlns:a16="http://schemas.microsoft.com/office/drawing/2014/main" id="{49746E89-9251-464F-B233-75E35CF6E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04850" y="3238500"/>
            <a:ext cx="16764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AD3D4"/>
            </a:solidFill>
            <a:prstDash val="solid"/>
          </a:ln>
        </p:spPr>
      </p:sp>
      <p:sp>
        <p:nvSpPr>
          <p:cNvPr id="21" name="candidate-token-3">
            <a:extLst xmlns:a="http://schemas.openxmlformats.org/drawingml/2006/main">
              <a:ext uri="{FF2B5EF4-FFF2-40B4-BE49-F238E27FC236}">
                <a16:creationId xmlns:a16="http://schemas.microsoft.com/office/drawing/2014/main" id="{9F6CD2E2-3269-4359-85CB-BCE641BB6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900" y="3295650"/>
            <a:ext cx="171450" cy="1714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765A8D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22" name="candidate-id-3">
            <a:extLst xmlns:a="http://schemas.openxmlformats.org/drawingml/2006/main">
              <a:ext uri="{FF2B5EF4-FFF2-40B4-BE49-F238E27FC236}">
                <a16:creationId xmlns:a16="http://schemas.microsoft.com/office/drawing/2014/main" id="{2246AE8F-BEDC-47AF-A808-1A2D04379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90600" y="325755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C03</a:t>
            </a:r>
          </a:p>
        </p:txBody>
      </p:sp>
      <p:sp>
        <p:nvSpPr>
          <p:cNvPr id="23" name="candidate-score-3">
            <a:extLst xmlns:a="http://schemas.openxmlformats.org/drawingml/2006/main">
              <a:ext uri="{FF2B5EF4-FFF2-40B4-BE49-F238E27FC236}">
                <a16:creationId xmlns:a16="http://schemas.microsoft.com/office/drawing/2014/main" id="{300D37B5-C45E-4CF8-A24A-C2C88DF58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33575" y="3257550"/>
            <a:ext cx="4476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0.82</a:t>
            </a:r>
          </a:p>
        </p:txBody>
      </p:sp>
      <p:sp>
        <p:nvSpPr>
          <p:cNvPr id="24" name="candidate-row-line-3">
            <a:extLst xmlns:a="http://schemas.openxmlformats.org/drawingml/2006/main">
              <a:ext uri="{FF2B5EF4-FFF2-40B4-BE49-F238E27FC236}">
                <a16:creationId xmlns:a16="http://schemas.microsoft.com/office/drawing/2014/main" id="{41E6BF8E-E20A-4231-8644-211288541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04850" y="3552825"/>
            <a:ext cx="16764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AD3D4"/>
            </a:solidFill>
            <a:prstDash val="solid"/>
          </a:ln>
        </p:spPr>
      </p:sp>
      <p:sp>
        <p:nvSpPr>
          <p:cNvPr id="25" name="candidate-token-4">
            <a:extLst xmlns:a="http://schemas.openxmlformats.org/drawingml/2006/main">
              <a:ext uri="{FF2B5EF4-FFF2-40B4-BE49-F238E27FC236}">
                <a16:creationId xmlns:a16="http://schemas.microsoft.com/office/drawing/2014/main" id="{2CCDFCE6-039C-41BE-BE44-331F810DD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900" y="360997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candidate-id-4">
            <a:extLst xmlns:a="http://schemas.openxmlformats.org/drawingml/2006/main">
              <a:ext uri="{FF2B5EF4-FFF2-40B4-BE49-F238E27FC236}">
                <a16:creationId xmlns:a16="http://schemas.microsoft.com/office/drawing/2014/main" id="{82F4CD43-7235-40DE-A9A1-E9B0F5369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90600" y="35718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D09</a:t>
            </a:r>
          </a:p>
        </p:txBody>
      </p:sp>
      <p:sp>
        <p:nvSpPr>
          <p:cNvPr id="27" name="candidate-score-4">
            <a:extLst xmlns:a="http://schemas.openxmlformats.org/drawingml/2006/main">
              <a:ext uri="{FF2B5EF4-FFF2-40B4-BE49-F238E27FC236}">
                <a16:creationId xmlns:a16="http://schemas.microsoft.com/office/drawing/2014/main" id="{3483B1F3-B161-4A8B-BF2F-15F0ED77A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33575" y="3571875"/>
            <a:ext cx="4476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0.64</a:t>
            </a:r>
          </a:p>
        </p:txBody>
      </p:sp>
      <p:sp>
        <p:nvSpPr>
          <p:cNvPr id="28" name="ranking-heading">
            <a:extLst xmlns:a="http://schemas.openxmlformats.org/drawingml/2006/main">
              <a:ext uri="{FF2B5EF4-FFF2-40B4-BE49-F238E27FC236}">
                <a16:creationId xmlns:a16="http://schemas.microsoft.com/office/drawing/2014/main" id="{CACFF2AF-CE44-4AA2-97D6-8D69B6F0B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1428750"/>
            <a:ext cx="2038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Stable ranking</a:t>
            </a:r>
          </a:p>
        </p:txBody>
      </p:sp>
      <p:sp>
        <p:nvSpPr>
          <p:cNvPr id="29" name="ranking-score-caption">
            <a:extLst xmlns:a="http://schemas.openxmlformats.org/drawingml/2006/main">
              <a:ext uri="{FF2B5EF4-FFF2-40B4-BE49-F238E27FC236}">
                <a16:creationId xmlns:a16="http://schemas.microsoft.com/office/drawing/2014/main" id="{5B96B414-B47E-4B70-B143-E833ECD90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1771650"/>
            <a:ext cx="2038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Priority score (descending)</a:t>
            </a:r>
          </a:p>
        </p:txBody>
      </p:sp>
      <p:sp>
        <p:nvSpPr>
          <p:cNvPr id="30" name="rank-number-1">
            <a:extLst xmlns:a="http://schemas.openxmlformats.org/drawingml/2006/main">
              <a:ext uri="{FF2B5EF4-FFF2-40B4-BE49-F238E27FC236}">
                <a16:creationId xmlns:a16="http://schemas.microsoft.com/office/drawing/2014/main" id="{5AA5D7FA-3B78-4D66-A732-9ADBAC3DE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343150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37077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1" name="rank-row-1">
            <a:extLst xmlns:a="http://schemas.openxmlformats.org/drawingml/2006/main">
              <a:ext uri="{FF2B5EF4-FFF2-40B4-BE49-F238E27FC236}">
                <a16:creationId xmlns:a16="http://schemas.microsoft.com/office/drawing/2014/main" id="{C8E53D59-A19E-40C8-99FB-F6B8C4FA2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8500" y="2343150"/>
            <a:ext cx="12954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D4"/>
            </a:solidFill>
            <a:prstDash val="solid"/>
          </a:ln>
        </p:spPr>
      </p:sp>
      <p:sp>
        <p:nvSpPr>
          <p:cNvPr id="32" name="rank-id-1">
            <a:extLst xmlns:a="http://schemas.openxmlformats.org/drawingml/2006/main">
              <a:ext uri="{FF2B5EF4-FFF2-40B4-BE49-F238E27FC236}">
                <a16:creationId xmlns:a16="http://schemas.microsoft.com/office/drawing/2014/main" id="{699DFF5C-87E1-4C45-8247-C55F481C7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33750" y="2352675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A07</a:t>
            </a:r>
          </a:p>
        </p:txBody>
      </p:sp>
      <p:sp>
        <p:nvSpPr>
          <p:cNvPr id="33" name="rank-score-1">
            <a:extLst xmlns:a="http://schemas.openxmlformats.org/drawingml/2006/main">
              <a:ext uri="{FF2B5EF4-FFF2-40B4-BE49-F238E27FC236}">
                <a16:creationId xmlns:a16="http://schemas.microsoft.com/office/drawing/2014/main" id="{14373DFB-CB5C-4AFD-BA5D-71B4C1763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52875" y="2352675"/>
            <a:ext cx="4667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0.91</a:t>
            </a:r>
          </a:p>
        </p:txBody>
      </p:sp>
      <p:sp>
        <p:nvSpPr>
          <p:cNvPr id="34" name="rank-number-2">
            <a:extLst xmlns:a="http://schemas.openxmlformats.org/drawingml/2006/main">
              <a:ext uri="{FF2B5EF4-FFF2-40B4-BE49-F238E27FC236}">
                <a16:creationId xmlns:a16="http://schemas.microsoft.com/office/drawing/2014/main" id="{9F3B3611-FFCF-4D11-BF2B-88CB04B49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743200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37077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35" name="rank-row-2">
            <a:extLst xmlns:a="http://schemas.openxmlformats.org/drawingml/2006/main">
              <a:ext uri="{FF2B5EF4-FFF2-40B4-BE49-F238E27FC236}">
                <a16:creationId xmlns:a16="http://schemas.microsoft.com/office/drawing/2014/main" id="{F99C5684-3DFF-43FF-B041-B8E7C267B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8500" y="2743200"/>
            <a:ext cx="12954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F6"/>
          </a:solidFill>
          <a:ln xmlns:a="http://schemas.openxmlformats.org/drawingml/2006/main" w="9525">
            <a:solidFill>
              <a:srgbClr val="CAD3D4"/>
            </a:solidFill>
            <a:prstDash val="solid"/>
          </a:ln>
        </p:spPr>
      </p:sp>
      <p:sp>
        <p:nvSpPr>
          <p:cNvPr id="36" name="rank-id-2">
            <a:extLst xmlns:a="http://schemas.openxmlformats.org/drawingml/2006/main">
              <a:ext uri="{FF2B5EF4-FFF2-40B4-BE49-F238E27FC236}">
                <a16:creationId xmlns:a16="http://schemas.microsoft.com/office/drawing/2014/main" id="{A295A84B-2A11-4A90-95B5-577741146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33750" y="2752725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7FA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57FA0"/>
                </a:solidFill>
                <a:latin typeface="Arial"/>
                <a:ea typeface="Arial"/>
                <a:cs typeface="Arial"/>
              </a:rPr>
              <a:t>B12</a:t>
            </a:r>
          </a:p>
        </p:txBody>
      </p:sp>
      <p:sp>
        <p:nvSpPr>
          <p:cNvPr id="37" name="rank-score-2">
            <a:extLst xmlns:a="http://schemas.openxmlformats.org/drawingml/2006/main">
              <a:ext uri="{FF2B5EF4-FFF2-40B4-BE49-F238E27FC236}">
                <a16:creationId xmlns:a16="http://schemas.microsoft.com/office/drawing/2014/main" id="{09E2ED97-7C3A-421F-A7C7-8D3A903C3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52875" y="2752725"/>
            <a:ext cx="4667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0.82</a:t>
            </a:r>
          </a:p>
        </p:txBody>
      </p:sp>
      <p:sp>
        <p:nvSpPr>
          <p:cNvPr id="38" name="rank-number-3">
            <a:extLst xmlns:a="http://schemas.openxmlformats.org/drawingml/2006/main">
              <a:ext uri="{FF2B5EF4-FFF2-40B4-BE49-F238E27FC236}">
                <a16:creationId xmlns:a16="http://schemas.microsoft.com/office/drawing/2014/main" id="{DFA6313C-3432-489B-B0AD-6C908C82F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3143250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37077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9" name="rank-row-3">
            <a:extLst xmlns:a="http://schemas.openxmlformats.org/drawingml/2006/main">
              <a:ext uri="{FF2B5EF4-FFF2-40B4-BE49-F238E27FC236}">
                <a16:creationId xmlns:a16="http://schemas.microsoft.com/office/drawing/2014/main" id="{60A5655F-4262-4218-A13D-71B2A24AD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8500" y="3143250"/>
            <a:ext cx="12954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F6"/>
          </a:solidFill>
          <a:ln xmlns:a="http://schemas.openxmlformats.org/drawingml/2006/main" w="9525">
            <a:solidFill>
              <a:srgbClr val="CAD3D4"/>
            </a:solidFill>
            <a:prstDash val="solid"/>
          </a:ln>
        </p:spPr>
      </p:sp>
      <p:sp>
        <p:nvSpPr>
          <p:cNvPr id="40" name="rank-id-3">
            <a:extLst xmlns:a="http://schemas.openxmlformats.org/drawingml/2006/main">
              <a:ext uri="{FF2B5EF4-FFF2-40B4-BE49-F238E27FC236}">
                <a16:creationId xmlns:a16="http://schemas.microsoft.com/office/drawing/2014/main" id="{FD35E480-0780-4BA8-84F6-EFB19106D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33750" y="3152775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65A8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65A8D"/>
                </a:solidFill>
                <a:latin typeface="Arial"/>
                <a:ea typeface="Arial"/>
                <a:cs typeface="Arial"/>
              </a:rPr>
              <a:t>C03</a:t>
            </a:r>
          </a:p>
        </p:txBody>
      </p:sp>
      <p:sp>
        <p:nvSpPr>
          <p:cNvPr id="41" name="rank-score-3">
            <a:extLst xmlns:a="http://schemas.openxmlformats.org/drawingml/2006/main">
              <a:ext uri="{FF2B5EF4-FFF2-40B4-BE49-F238E27FC236}">
                <a16:creationId xmlns:a16="http://schemas.microsoft.com/office/drawing/2014/main" id="{D457CF3C-BC58-4380-A705-AEFCACBEA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52875" y="3152775"/>
            <a:ext cx="4667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0.82</a:t>
            </a:r>
          </a:p>
        </p:txBody>
      </p:sp>
      <p:sp>
        <p:nvSpPr>
          <p:cNvPr id="42" name="rank-number-4">
            <a:extLst xmlns:a="http://schemas.openxmlformats.org/drawingml/2006/main">
              <a:ext uri="{FF2B5EF4-FFF2-40B4-BE49-F238E27FC236}">
                <a16:creationId xmlns:a16="http://schemas.microsoft.com/office/drawing/2014/main" id="{68D7CF4D-F0B3-4A3A-8485-76C75C61D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3543300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37077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3" name="rank-row-4">
            <a:extLst xmlns:a="http://schemas.openxmlformats.org/drawingml/2006/main">
              <a:ext uri="{FF2B5EF4-FFF2-40B4-BE49-F238E27FC236}">
                <a16:creationId xmlns:a16="http://schemas.microsoft.com/office/drawing/2014/main" id="{E598ECA6-7B6B-438D-90E4-092CAD382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8500" y="3543300"/>
            <a:ext cx="12954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D4"/>
            </a:solidFill>
            <a:prstDash val="solid"/>
          </a:ln>
        </p:spPr>
      </p:sp>
      <p:sp>
        <p:nvSpPr>
          <p:cNvPr id="44" name="rank-id-4">
            <a:extLst xmlns:a="http://schemas.openxmlformats.org/drawingml/2006/main">
              <a:ext uri="{FF2B5EF4-FFF2-40B4-BE49-F238E27FC236}">
                <a16:creationId xmlns:a16="http://schemas.microsoft.com/office/drawing/2014/main" id="{70D4E0DE-DB56-4DD4-A6CF-872C025D0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33750" y="3552825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37077"/>
                </a:solidFill>
                <a:latin typeface="Arial"/>
                <a:ea typeface="Arial"/>
                <a:cs typeface="Arial"/>
              </a:rPr>
              <a:t>D09</a:t>
            </a:r>
          </a:p>
        </p:txBody>
      </p:sp>
      <p:sp>
        <p:nvSpPr>
          <p:cNvPr id="45" name="rank-score-4">
            <a:extLst xmlns:a="http://schemas.openxmlformats.org/drawingml/2006/main">
              <a:ext uri="{FF2B5EF4-FFF2-40B4-BE49-F238E27FC236}">
                <a16:creationId xmlns:a16="http://schemas.microsoft.com/office/drawing/2014/main" id="{D9E933B4-6B1E-4D4E-8251-D7885CCFC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52875" y="3552825"/>
            <a:ext cx="4667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0.64</a:t>
            </a:r>
          </a:p>
        </p:txBody>
      </p:sp>
      <p:sp>
        <p:nvSpPr>
          <p:cNvPr id="46" name="stable-tie-bracket">
            <a:extLst xmlns:a="http://schemas.openxmlformats.org/drawingml/2006/main">
              <a:ext uri="{FF2B5EF4-FFF2-40B4-BE49-F238E27FC236}">
                <a16:creationId xmlns:a16="http://schemas.microsoft.com/office/drawing/2014/main" id="{CA465BA7-86B1-4771-B791-D23833CDB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629150" y="2781300"/>
            <a:ext cx="9525" cy="628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6785F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653D25B-D9C7-4620-A4B1-B4B9A8261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562475" y="2781300"/>
            <a:ext cx="666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6785F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0B46C1C-67CD-4D91-A38F-C185E10C4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562475" y="3409950"/>
            <a:ext cx="666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6785F"/>
            </a:solidFill>
            <a:prstDash val="solid"/>
          </a:ln>
        </p:spPr>
      </p:sp>
      <p:sp>
        <p:nvSpPr>
          <p:cNvPr id="49" name="stable-tie-label">
            <a:extLst xmlns:a="http://schemas.openxmlformats.org/drawingml/2006/main">
              <a:ext uri="{FF2B5EF4-FFF2-40B4-BE49-F238E27FC236}">
                <a16:creationId xmlns:a16="http://schemas.microsoft.com/office/drawing/2014/main" id="{A56CF612-091E-4229-8DAD-73292D0AF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90950" y="340995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26785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6785F"/>
                </a:solidFill>
                <a:latin typeface="Arial"/>
                <a:ea typeface="Arial"/>
                <a:cs typeface="Arial"/>
              </a:rPr>
              <a:t>equal scores</a:t>
            </a:r>
          </a:p>
        </p:txBody>
      </p:sp>
      <p:sp>
        <p:nvSpPr>
          <p:cNvPr id="50" name="ranking-tie-caption">
            <a:extLst xmlns:a="http://schemas.openxmlformats.org/drawingml/2006/main">
              <a:ext uri="{FF2B5EF4-FFF2-40B4-BE49-F238E27FC236}">
                <a16:creationId xmlns:a16="http://schemas.microsoft.com/office/drawing/2014/main" id="{F0AD1A6E-C297-48FE-8F13-BDF59F05E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39052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Stable deterministic ties</a:t>
            </a:r>
          </a:p>
        </p:txBody>
      </p:sp>
      <p:sp>
        <p:nvSpPr>
          <p:cNvPr id="51" name="allocation-heading">
            <a:extLst xmlns:a="http://schemas.openxmlformats.org/drawingml/2006/main">
              <a:ext uri="{FF2B5EF4-FFF2-40B4-BE49-F238E27FC236}">
                <a16:creationId xmlns:a16="http://schemas.microsoft.com/office/drawing/2014/main" id="{59C4086A-AC46-4A85-99DD-488569B6B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14950" y="1428750"/>
            <a:ext cx="3905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6785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6785F"/>
                </a:solidFill>
                <a:latin typeface="Arial"/>
                <a:ea typeface="Arial"/>
                <a:cs typeface="Arial"/>
              </a:rPr>
              <a:t>Governed allocation</a:t>
            </a:r>
          </a:p>
        </p:txBody>
      </p:sp>
      <p:sp>
        <p:nvSpPr>
          <p:cNvPr id="52" name="allocation-caption">
            <a:extLst xmlns:a="http://schemas.openxmlformats.org/drawingml/2006/main">
              <a:ext uri="{FF2B5EF4-FFF2-40B4-BE49-F238E27FC236}">
                <a16:creationId xmlns:a16="http://schemas.microsoft.com/office/drawing/2014/main" id="{A23A7942-F3D6-4028-9E4C-025978BC8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14950" y="1771650"/>
            <a:ext cx="3905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Apply reserves in declared order, then fill by global rank</a:t>
            </a:r>
          </a:p>
        </p:txBody>
      </p:sp>
      <p:sp>
        <p:nvSpPr>
          <p:cNvPr id="53" name="policy-to-queue-arrow">
            <a:extLst xmlns:a="http://schemas.openxmlformats.org/drawingml/2006/main">
              <a:ext uri="{FF2B5EF4-FFF2-40B4-BE49-F238E27FC236}">
                <a16:creationId xmlns:a16="http://schemas.microsoft.com/office/drawing/2014/main" id="{1EF59C6B-3DF8-44A9-96D5-3F9A117D4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0" y="3429000"/>
            <a:ext cx="266700" cy="2857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C6E4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global-to-queue-arrow">
            <a:extLst xmlns:a="http://schemas.openxmlformats.org/drawingml/2006/main">
              <a:ext uri="{FF2B5EF4-FFF2-40B4-BE49-F238E27FC236}">
                <a16:creationId xmlns:a16="http://schemas.microsoft.com/office/drawing/2014/main" id="{A0D3B1AE-3213-4261-9B91-DED753A10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39100" y="3067050"/>
            <a:ext cx="266700" cy="6477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C6E4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allocation-policy">
            <a:extLst xmlns:a="http://schemas.openxmlformats.org/drawingml/2006/main">
              <a:ext uri="{FF2B5EF4-FFF2-40B4-BE49-F238E27FC236}">
                <a16:creationId xmlns:a16="http://schemas.microsoft.com/office/drawing/2014/main" id="{C7DA9A6A-6B5D-4A88-A358-B22A56AA2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14950" y="2190750"/>
            <a:ext cx="1676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1EB"/>
          </a:solidFill>
          <a:ln xmlns:a="http://schemas.openxmlformats.org/drawingml/2006/main" w="14288">
            <a:solidFill>
              <a:srgbClr val="26785F"/>
            </a:solidFill>
            <a:prstDash val="solid"/>
          </a:ln>
        </p:spPr>
      </p:sp>
      <p:sp>
        <p:nvSpPr>
          <p:cNvPr id="56" name="allocation-policy-name">
            <a:extLst xmlns:a="http://schemas.openxmlformats.org/drawingml/2006/main">
              <a:ext uri="{FF2B5EF4-FFF2-40B4-BE49-F238E27FC236}">
                <a16:creationId xmlns:a16="http://schemas.microsoft.com/office/drawing/2014/main" id="{01F0B57F-35F2-4473-AB58-2D715CA7F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29250" y="22860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6785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6785F"/>
                </a:solidFill>
                <a:latin typeface="Arial"/>
                <a:ea typeface="Arial"/>
                <a:cs typeface="Arial"/>
              </a:rPr>
              <a:t>Reserve policies</a:t>
            </a:r>
          </a:p>
        </p:txBody>
      </p:sp>
      <p:sp>
        <p:nvSpPr>
          <p:cNvPr id="57" name="allocation-policy-token-1">
            <a:extLst xmlns:a="http://schemas.openxmlformats.org/drawingml/2006/main">
              <a:ext uri="{FF2B5EF4-FFF2-40B4-BE49-F238E27FC236}">
                <a16:creationId xmlns:a16="http://schemas.microsoft.com/office/drawing/2014/main" id="{619734CA-BC02-40E1-A7FF-CC5A74448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86400" y="26003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7FA0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58" name="allocation-policy-profile">
            <a:extLst xmlns:a="http://schemas.openxmlformats.org/drawingml/2006/main">
              <a:ext uri="{FF2B5EF4-FFF2-40B4-BE49-F238E27FC236}">
                <a16:creationId xmlns:a16="http://schemas.microsoft.com/office/drawing/2014/main" id="{505FC8F3-F370-468F-882D-C21D8B193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34050" y="2571750"/>
            <a:ext cx="106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profile</a:t>
            </a:r>
          </a:p>
        </p:txBody>
      </p:sp>
      <p:sp>
        <p:nvSpPr>
          <p:cNvPr id="59" name="allocation-policy-token-2">
            <a:extLst xmlns:a="http://schemas.openxmlformats.org/drawingml/2006/main">
              <a:ext uri="{FF2B5EF4-FFF2-40B4-BE49-F238E27FC236}">
                <a16:creationId xmlns:a16="http://schemas.microsoft.com/office/drawing/2014/main" id="{B0F36F13-58CA-4AC5-937D-4F57DD36F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86400" y="2857500"/>
            <a:ext cx="152400" cy="1524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765A8D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60" name="allocation-policy-signal-type">
            <a:extLst xmlns:a="http://schemas.openxmlformats.org/drawingml/2006/main">
              <a:ext uri="{FF2B5EF4-FFF2-40B4-BE49-F238E27FC236}">
                <a16:creationId xmlns:a16="http://schemas.microsoft.com/office/drawing/2014/main" id="{7DA94F9A-0B0E-460F-8360-479B7F1B4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34050" y="2828925"/>
            <a:ext cx="106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signal type</a:t>
            </a:r>
          </a:p>
        </p:txBody>
      </p:sp>
      <p:sp>
        <p:nvSpPr>
          <p:cNvPr id="61" name="allocation-policy-order">
            <a:extLst xmlns:a="http://schemas.openxmlformats.org/drawingml/2006/main">
              <a:ext uri="{FF2B5EF4-FFF2-40B4-BE49-F238E27FC236}">
                <a16:creationId xmlns:a16="http://schemas.microsoft.com/office/drawing/2014/main" id="{F05FA9AF-CEB4-4BE8-91EC-37177F977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29250" y="3124200"/>
            <a:ext cx="144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96621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6785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6785F"/>
                </a:solidFill>
                <a:latin typeface="Arial"/>
                <a:ea typeface="Arial"/>
                <a:cs typeface="Arial"/>
              </a:rPr>
              <a:t>Exact-floor; declared order</a:t>
            </a:r>
          </a:p>
        </p:txBody>
      </p:sp>
      <p:sp>
        <p:nvSpPr>
          <p:cNvPr id="62" name="allocation-global-label">
            <a:extLst xmlns:a="http://schemas.openxmlformats.org/drawingml/2006/main">
              <a:ext uri="{FF2B5EF4-FFF2-40B4-BE49-F238E27FC236}">
                <a16:creationId xmlns:a16="http://schemas.microsoft.com/office/drawing/2014/main" id="{0FA36BDE-77E3-40CF-9E63-D6426C92B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91400" y="2219325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Global ranking</a:t>
            </a:r>
          </a:p>
        </p:txBody>
      </p:sp>
      <p:sp>
        <p:nvSpPr>
          <p:cNvPr id="63" name="allocation-global-token-1">
            <a:extLst xmlns:a="http://schemas.openxmlformats.org/drawingml/2006/main">
              <a:ext uri="{FF2B5EF4-FFF2-40B4-BE49-F238E27FC236}">
                <a16:creationId xmlns:a16="http://schemas.microsoft.com/office/drawing/2014/main" id="{1F47AD67-B9DE-46F2-8450-32D599CC5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10450" y="257175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allocation-global-rank-1">
            <a:extLst xmlns:a="http://schemas.openxmlformats.org/drawingml/2006/main">
              <a:ext uri="{FF2B5EF4-FFF2-40B4-BE49-F238E27FC236}">
                <a16:creationId xmlns:a16="http://schemas.microsoft.com/office/drawing/2014/main" id="{EF76D164-C473-4EE4-AB45-797D94A47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10450" y="2819400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5" name="allocation-global-token-2">
            <a:extLst xmlns:a="http://schemas.openxmlformats.org/drawingml/2006/main">
              <a:ext uri="{FF2B5EF4-FFF2-40B4-BE49-F238E27FC236}">
                <a16:creationId xmlns:a16="http://schemas.microsoft.com/office/drawing/2014/main" id="{94A0EB28-3EF3-48EA-B537-B1DE097F9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72400" y="25717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7FA0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66" name="allocation-global-rank-2">
            <a:extLst xmlns:a="http://schemas.openxmlformats.org/drawingml/2006/main">
              <a:ext uri="{FF2B5EF4-FFF2-40B4-BE49-F238E27FC236}">
                <a16:creationId xmlns:a16="http://schemas.microsoft.com/office/drawing/2014/main" id="{E533CC9A-0891-4129-8508-68FBE0AAE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72400" y="2819400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7" name="allocation-global-token-3">
            <a:extLst xmlns:a="http://schemas.openxmlformats.org/drawingml/2006/main">
              <a:ext uri="{FF2B5EF4-FFF2-40B4-BE49-F238E27FC236}">
                <a16:creationId xmlns:a16="http://schemas.microsoft.com/office/drawing/2014/main" id="{8843714A-A87C-4F37-B850-4F5CDA2EB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34350" y="2571750"/>
            <a:ext cx="190500" cy="1905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765A8D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68" name="allocation-global-rank-3">
            <a:extLst xmlns:a="http://schemas.openxmlformats.org/drawingml/2006/main">
              <a:ext uri="{FF2B5EF4-FFF2-40B4-BE49-F238E27FC236}">
                <a16:creationId xmlns:a16="http://schemas.microsoft.com/office/drawing/2014/main" id="{5B4E74E5-1B38-4E1A-8FEC-2AD88E3A2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34350" y="2819400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69" name="allocation-global-token-4">
            <a:extLst xmlns:a="http://schemas.openxmlformats.org/drawingml/2006/main">
              <a:ext uri="{FF2B5EF4-FFF2-40B4-BE49-F238E27FC236}">
                <a16:creationId xmlns:a16="http://schemas.microsoft.com/office/drawing/2014/main" id="{884B9FCD-897A-4086-A81D-29E541FB4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96300" y="257175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allocation-global-rank-4">
            <a:extLst xmlns:a="http://schemas.openxmlformats.org/drawingml/2006/main">
              <a:ext uri="{FF2B5EF4-FFF2-40B4-BE49-F238E27FC236}">
                <a16:creationId xmlns:a16="http://schemas.microsoft.com/office/drawing/2014/main" id="{563CE6D6-515F-4916-9DA1-4D8CF3281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96300" y="2819400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1" name="allocation-global-baseline">
            <a:extLst xmlns:a="http://schemas.openxmlformats.org/drawingml/2006/main">
              <a:ext uri="{FF2B5EF4-FFF2-40B4-BE49-F238E27FC236}">
                <a16:creationId xmlns:a16="http://schemas.microsoft.com/office/drawing/2014/main" id="{758A3F6B-9281-4938-BA36-F2FB996E3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391400" y="3057525"/>
            <a:ext cx="14287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AD3D4"/>
            </a:solidFill>
            <a:prstDash val="solid"/>
          </a:ln>
        </p:spPr>
      </p:sp>
      <p:sp>
        <p:nvSpPr>
          <p:cNvPr id="72" name="allocation-reserved-label">
            <a:extLst xmlns:a="http://schemas.openxmlformats.org/drawingml/2006/main">
              <a:ext uri="{FF2B5EF4-FFF2-40B4-BE49-F238E27FC236}">
                <a16:creationId xmlns:a16="http://schemas.microsoft.com/office/drawing/2014/main" id="{240F3F7D-0EDC-4DCF-89C2-3DAB3ECE4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43600" y="3762375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6785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6785F"/>
                </a:solidFill>
                <a:latin typeface="Arial"/>
                <a:ea typeface="Arial"/>
                <a:cs typeface="Arial"/>
              </a:rPr>
              <a:t>Reserved</a:t>
            </a:r>
          </a:p>
        </p:txBody>
      </p:sp>
      <p:sp>
        <p:nvSpPr>
          <p:cNvPr id="73" name="allocation-fill-label">
            <a:extLst xmlns:a="http://schemas.openxmlformats.org/drawingml/2006/main">
              <a:ext uri="{FF2B5EF4-FFF2-40B4-BE49-F238E27FC236}">
                <a16:creationId xmlns:a16="http://schemas.microsoft.com/office/drawing/2014/main" id="{C3043E8A-B087-4BE9-B773-966B9315F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77150" y="3762375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Global fill</a:t>
            </a:r>
          </a:p>
        </p:txBody>
      </p:sp>
      <p:sp>
        <p:nvSpPr>
          <p:cNvPr id="74" name="allocation-slot-1">
            <a:extLst xmlns:a="http://schemas.openxmlformats.org/drawingml/2006/main">
              <a:ext uri="{FF2B5EF4-FFF2-40B4-BE49-F238E27FC236}">
                <a16:creationId xmlns:a16="http://schemas.microsoft.com/office/drawing/2014/main" id="{6F1449A1-8B7C-4F33-A03E-5CE1806A3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91200" y="4010025"/>
            <a:ext cx="3524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1EB"/>
          </a:solidFill>
          <a:ln xmlns:a="http://schemas.openxmlformats.org/drawingml/2006/main" w="12383">
            <a:solidFill>
              <a:srgbClr val="26785F"/>
            </a:solidFill>
            <a:prstDash val="solid"/>
          </a:ln>
        </p:spPr>
      </p:sp>
      <p:sp>
        <p:nvSpPr>
          <p:cNvPr id="75" name="allocation-slot-token-1">
            <a:extLst xmlns:a="http://schemas.openxmlformats.org/drawingml/2006/main">
              <a:ext uri="{FF2B5EF4-FFF2-40B4-BE49-F238E27FC236}">
                <a16:creationId xmlns:a16="http://schemas.microsoft.com/office/drawing/2014/main" id="{2EACFC8C-09D5-4766-99EF-667849A74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76925" y="41433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7FA0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76" name="allocation-slot-2">
            <a:extLst xmlns:a="http://schemas.openxmlformats.org/drawingml/2006/main">
              <a:ext uri="{FF2B5EF4-FFF2-40B4-BE49-F238E27FC236}">
                <a16:creationId xmlns:a16="http://schemas.microsoft.com/office/drawing/2014/main" id="{13ABACCC-741B-4C85-ADD5-8DC9E7C6C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62675" y="4010025"/>
            <a:ext cx="3524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1EB"/>
          </a:solidFill>
          <a:ln xmlns:a="http://schemas.openxmlformats.org/drawingml/2006/main" w="12383">
            <a:solidFill>
              <a:srgbClr val="26785F"/>
            </a:solidFill>
            <a:prstDash val="solid"/>
          </a:ln>
        </p:spPr>
      </p:sp>
      <p:sp>
        <p:nvSpPr>
          <p:cNvPr id="77" name="allocation-slot-token-2">
            <a:extLst xmlns:a="http://schemas.openxmlformats.org/drawingml/2006/main">
              <a:ext uri="{FF2B5EF4-FFF2-40B4-BE49-F238E27FC236}">
                <a16:creationId xmlns:a16="http://schemas.microsoft.com/office/drawing/2014/main" id="{C384AEE4-7F8C-4F76-9E2B-C9EB12453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48400" y="4143375"/>
            <a:ext cx="171450" cy="1714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765A8D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78" name="allocation-slot-3">
            <a:extLst xmlns:a="http://schemas.openxmlformats.org/drawingml/2006/main">
              <a:ext uri="{FF2B5EF4-FFF2-40B4-BE49-F238E27FC236}">
                <a16:creationId xmlns:a16="http://schemas.microsoft.com/office/drawing/2014/main" id="{35979F46-CD22-4D0D-A24A-AE93B19F5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34150" y="4010025"/>
            <a:ext cx="3524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6355F"/>
            </a:solidFill>
            <a:prstDash val="solid"/>
          </a:ln>
        </p:spPr>
      </p:sp>
      <p:sp>
        <p:nvSpPr>
          <p:cNvPr id="79" name="allocation-slot-token-3">
            <a:extLst xmlns:a="http://schemas.openxmlformats.org/drawingml/2006/main">
              <a:ext uri="{FF2B5EF4-FFF2-40B4-BE49-F238E27FC236}">
                <a16:creationId xmlns:a16="http://schemas.microsoft.com/office/drawing/2014/main" id="{8D36BC9F-C4B2-4D0A-9F63-3183E4149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19875" y="414337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allocation-slot-4">
            <a:extLst xmlns:a="http://schemas.openxmlformats.org/drawingml/2006/main">
              <a:ext uri="{FF2B5EF4-FFF2-40B4-BE49-F238E27FC236}">
                <a16:creationId xmlns:a16="http://schemas.microsoft.com/office/drawing/2014/main" id="{D357C4E9-4BE7-4CC9-AE18-166D65676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05625" y="4010025"/>
            <a:ext cx="3524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6355F"/>
            </a:solidFill>
            <a:prstDash val="solid"/>
          </a:ln>
        </p:spPr>
      </p:sp>
      <p:sp>
        <p:nvSpPr>
          <p:cNvPr id="81" name="allocation-slot-token-4">
            <a:extLst xmlns:a="http://schemas.openxmlformats.org/drawingml/2006/main">
              <a:ext uri="{FF2B5EF4-FFF2-40B4-BE49-F238E27FC236}">
                <a16:creationId xmlns:a16="http://schemas.microsoft.com/office/drawing/2014/main" id="{57C8770D-8443-45EE-8350-0EF250069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91350" y="41433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7FA0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82" name="allocation-slot-5">
            <a:extLst xmlns:a="http://schemas.openxmlformats.org/drawingml/2006/main">
              <a:ext uri="{FF2B5EF4-FFF2-40B4-BE49-F238E27FC236}">
                <a16:creationId xmlns:a16="http://schemas.microsoft.com/office/drawing/2014/main" id="{1C77590E-EBA8-4826-8B07-2AC3FF73A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77100" y="4010025"/>
            <a:ext cx="3524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6355F"/>
            </a:solidFill>
            <a:prstDash val="solid"/>
          </a:ln>
        </p:spPr>
      </p:sp>
      <p:sp>
        <p:nvSpPr>
          <p:cNvPr id="83" name="allocation-slot-token-5">
            <a:extLst xmlns:a="http://schemas.openxmlformats.org/drawingml/2006/main">
              <a:ext uri="{FF2B5EF4-FFF2-40B4-BE49-F238E27FC236}">
                <a16:creationId xmlns:a16="http://schemas.microsoft.com/office/drawing/2014/main" id="{4B3BDCF9-3859-474C-8A3F-F0D2316D7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62825" y="414337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allocation-slot-6">
            <a:extLst xmlns:a="http://schemas.openxmlformats.org/drawingml/2006/main">
              <a:ext uri="{FF2B5EF4-FFF2-40B4-BE49-F238E27FC236}">
                <a16:creationId xmlns:a16="http://schemas.microsoft.com/office/drawing/2014/main" id="{67175579-6838-475D-B49C-92BF3AD59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48575" y="4010025"/>
            <a:ext cx="3524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6355F"/>
            </a:solidFill>
            <a:prstDash val="solid"/>
          </a:ln>
        </p:spPr>
      </p:sp>
      <p:sp>
        <p:nvSpPr>
          <p:cNvPr id="85" name="allocation-slot-token-6">
            <a:extLst xmlns:a="http://schemas.openxmlformats.org/drawingml/2006/main">
              <a:ext uri="{FF2B5EF4-FFF2-40B4-BE49-F238E27FC236}">
                <a16:creationId xmlns:a16="http://schemas.microsoft.com/office/drawing/2014/main" id="{2EB7DC57-460D-456D-9765-99A7DA531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34300" y="41433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7FA0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86" name="allocation-slot-7">
            <a:extLst xmlns:a="http://schemas.openxmlformats.org/drawingml/2006/main">
              <a:ext uri="{FF2B5EF4-FFF2-40B4-BE49-F238E27FC236}">
                <a16:creationId xmlns:a16="http://schemas.microsoft.com/office/drawing/2014/main" id="{627142AD-112F-4A98-994D-59A7F2376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20050" y="4010025"/>
            <a:ext cx="3524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6355F"/>
            </a:solidFill>
            <a:prstDash val="solid"/>
          </a:ln>
        </p:spPr>
      </p:sp>
      <p:sp>
        <p:nvSpPr>
          <p:cNvPr id="87" name="allocation-slot-token-7">
            <a:extLst xmlns:a="http://schemas.openxmlformats.org/drawingml/2006/main">
              <a:ext uri="{FF2B5EF4-FFF2-40B4-BE49-F238E27FC236}">
                <a16:creationId xmlns:a16="http://schemas.microsoft.com/office/drawing/2014/main" id="{B0CABDE5-81A4-4AF5-BECD-47C13029B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05775" y="4143375"/>
            <a:ext cx="171450" cy="1714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765A8D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88" name="allocation-slot-8">
            <a:extLst xmlns:a="http://schemas.openxmlformats.org/drawingml/2006/main">
              <a:ext uri="{FF2B5EF4-FFF2-40B4-BE49-F238E27FC236}">
                <a16:creationId xmlns:a16="http://schemas.microsoft.com/office/drawing/2014/main" id="{AD3FB3D6-34AF-45CF-AD65-5A2BEC891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91525" y="4010025"/>
            <a:ext cx="3524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6355F"/>
            </a:solidFill>
            <a:prstDash val="solid"/>
          </a:ln>
        </p:spPr>
      </p:sp>
      <p:sp>
        <p:nvSpPr>
          <p:cNvPr id="89" name="allocation-slot-token-8">
            <a:extLst xmlns:a="http://schemas.openxmlformats.org/drawingml/2006/main">
              <a:ext uri="{FF2B5EF4-FFF2-40B4-BE49-F238E27FC236}">
                <a16:creationId xmlns:a16="http://schemas.microsoft.com/office/drawing/2014/main" id="{B37E2303-ADBA-405B-954C-8596A572D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77250" y="414337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allocation-capacity-bracket">
            <a:extLst xmlns:a="http://schemas.openxmlformats.org/drawingml/2006/main">
              <a:ext uri="{FF2B5EF4-FFF2-40B4-BE49-F238E27FC236}">
                <a16:creationId xmlns:a16="http://schemas.microsoft.com/office/drawing/2014/main" id="{F5375C51-65A3-4988-BB19-B6BFDA211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791200" y="4552950"/>
            <a:ext cx="29432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6355F"/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19E7BCF8-C883-470A-8B59-A879FBD4D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791200" y="4495800"/>
            <a:ext cx="9525" cy="114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6355F"/>
            </a:solidFill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ED87FE69-8932-480D-AF18-7BF409063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734425" y="4495800"/>
            <a:ext cx="9525" cy="114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6355F"/>
            </a:solidFill>
            <a:prstDash val="solid"/>
          </a:ln>
        </p:spPr>
      </p:sp>
      <p:sp>
        <p:nvSpPr>
          <p:cNvPr id="93" name="allocation-capacity-label">
            <a:extLst xmlns:a="http://schemas.openxmlformats.org/drawingml/2006/main">
              <a:ext uri="{FF2B5EF4-FFF2-40B4-BE49-F238E27FC236}">
                <a16:creationId xmlns:a16="http://schemas.microsoft.com/office/drawing/2014/main" id="{3896AA12-98C6-4D16-A19A-09C6A5590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29400" y="4572000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Fixed capacity, k</a:t>
            </a:r>
          </a:p>
        </p:txBody>
      </p:sp>
      <p:sp>
        <p:nvSpPr>
          <p:cNvPr id="94" name="allocation-note">
            <a:extLst xmlns:a="http://schemas.openxmlformats.org/drawingml/2006/main">
              <a:ext uri="{FF2B5EF4-FFF2-40B4-BE49-F238E27FC236}">
                <a16:creationId xmlns:a16="http://schemas.microsoft.com/office/drawing/2014/main" id="{9D4ADF71-EBC0-4503-9B50-51A0ACF68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14950" y="4714875"/>
            <a:ext cx="3905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75772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Deduplicate before global fill; unused reserve slots return to the global order.</a:t>
            </a:r>
          </a:p>
        </p:txBody>
      </p:sp>
      <p:sp>
        <p:nvSpPr>
          <p:cNvPr id="95" name="output-heading">
            <a:extLst xmlns:a="http://schemas.openxmlformats.org/drawingml/2006/main">
              <a:ext uri="{FF2B5EF4-FFF2-40B4-BE49-F238E27FC236}">
                <a16:creationId xmlns:a16="http://schemas.microsoft.com/office/drawing/2014/main" id="{E76DA1D6-46E7-4D6B-A647-18E75B91C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20300" y="1428750"/>
            <a:ext cx="1562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Slot ledger</a:t>
            </a:r>
          </a:p>
        </p:txBody>
      </p:sp>
      <p:sp>
        <p:nvSpPr>
          <p:cNvPr id="96" name="output-caption">
            <a:extLst xmlns:a="http://schemas.openxmlformats.org/drawingml/2006/main">
              <a:ext uri="{FF2B5EF4-FFF2-40B4-BE49-F238E27FC236}">
                <a16:creationId xmlns:a16="http://schemas.microsoft.com/office/drawing/2014/main" id="{74ABAE3C-49C5-434E-AB03-636164FB4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20300" y="1771650"/>
            <a:ext cx="1562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375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Source recorded for every slot</a:t>
            </a:r>
          </a:p>
        </p:txBody>
      </p:sp>
      <p:sp>
        <p:nvSpPr>
          <p:cNvPr id="97" name="queue-result-ledger">
            <a:extLst xmlns:a="http://schemas.openxmlformats.org/drawingml/2006/main">
              <a:ext uri="{FF2B5EF4-FFF2-40B4-BE49-F238E27FC236}">
                <a16:creationId xmlns:a16="http://schemas.microsoft.com/office/drawing/2014/main" id="{F1D6836F-9385-4E06-AA12-E69916AA9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20300" y="2209800"/>
            <a:ext cx="15621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26785F"/>
            </a:solidFill>
            <a:prstDash val="solid"/>
          </a:ln>
        </p:spPr>
      </p:sp>
      <p:sp>
        <p:nvSpPr>
          <p:cNvPr id="98" name="queue-result-header">
            <a:extLst xmlns:a="http://schemas.openxmlformats.org/drawingml/2006/main">
              <a:ext uri="{FF2B5EF4-FFF2-40B4-BE49-F238E27FC236}">
                <a16:creationId xmlns:a16="http://schemas.microsoft.com/office/drawing/2014/main" id="{42458E13-3FB6-4BAC-A5CB-3774DB234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20300" y="2209800"/>
            <a:ext cx="1562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1EB"/>
          </a:solidFill>
          <a:ln xmlns:a="http://schemas.openxmlformats.org/drawingml/2006/main" w="11430">
            <a:solidFill>
              <a:srgbClr val="26785F"/>
            </a:solidFill>
            <a:prstDash val="solid"/>
          </a:ln>
        </p:spPr>
      </p:sp>
      <p:sp>
        <p:nvSpPr>
          <p:cNvPr id="99" name="queue-result-title">
            <a:extLst xmlns:a="http://schemas.openxmlformats.org/drawingml/2006/main">
              <a:ext uri="{FF2B5EF4-FFF2-40B4-BE49-F238E27FC236}">
                <a16:creationId xmlns:a16="http://schemas.microsoft.com/office/drawing/2014/main" id="{1DEBBE39-C551-4448-9F20-59E37E491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134600" y="223837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6785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6785F"/>
                </a:solidFill>
                <a:latin typeface="Arial"/>
                <a:ea typeface="Arial"/>
                <a:cs typeface="Arial"/>
              </a:rPr>
              <a:t>Queue result</a:t>
            </a:r>
          </a:p>
        </p:txBody>
      </p:sp>
      <p:sp>
        <p:nvSpPr>
          <p:cNvPr id="100" name="selected-ids-label">
            <a:extLst xmlns:a="http://schemas.openxmlformats.org/drawingml/2006/main">
              <a:ext uri="{FF2B5EF4-FFF2-40B4-BE49-F238E27FC236}">
                <a16:creationId xmlns:a16="http://schemas.microsoft.com/office/drawing/2014/main" id="{5ABD9F63-BFFA-4967-A050-37367AA48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134600" y="26193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72027"/>
                </a:solidFill>
                <a:latin typeface="Arial"/>
                <a:ea typeface="Arial"/>
                <a:cs typeface="Arial"/>
              </a:rPr>
              <a:t>Selected IDs (sample)</a:t>
            </a:r>
          </a:p>
        </p:txBody>
      </p:sp>
      <p:sp>
        <p:nvSpPr>
          <p:cNvPr id="101" name="result-token-1">
            <a:extLst xmlns:a="http://schemas.openxmlformats.org/drawingml/2006/main">
              <a:ext uri="{FF2B5EF4-FFF2-40B4-BE49-F238E27FC236}">
                <a16:creationId xmlns:a16="http://schemas.microsoft.com/office/drawing/2014/main" id="{19703D09-1DA8-4AD4-83DE-73BA7C2EA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363200" y="28575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7FA0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102" name="result-token-2">
            <a:extLst xmlns:a="http://schemas.openxmlformats.org/drawingml/2006/main">
              <a:ext uri="{FF2B5EF4-FFF2-40B4-BE49-F238E27FC236}">
                <a16:creationId xmlns:a16="http://schemas.microsoft.com/office/drawing/2014/main" id="{9E553E96-7E35-4AE8-BF94-AF1A69064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610850" y="2857500"/>
            <a:ext cx="133350" cy="1333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765A8D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103" name="result-token-3">
            <a:extLst xmlns:a="http://schemas.openxmlformats.org/drawingml/2006/main">
              <a:ext uri="{FF2B5EF4-FFF2-40B4-BE49-F238E27FC236}">
                <a16:creationId xmlns:a16="http://schemas.microsoft.com/office/drawing/2014/main" id="{A438A8DF-4F89-4B7D-A0F9-BA51958CC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858500" y="28575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" name="result-token-4">
            <a:extLst xmlns:a="http://schemas.openxmlformats.org/drawingml/2006/main">
              <a:ext uri="{FF2B5EF4-FFF2-40B4-BE49-F238E27FC236}">
                <a16:creationId xmlns:a16="http://schemas.microsoft.com/office/drawing/2014/main" id="{64FC9547-78D6-4F03-896C-79DF9FC38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06150" y="28575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7FA0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105" name="result-divider">
            <a:extLst xmlns:a="http://schemas.openxmlformats.org/drawingml/2006/main">
              <a:ext uri="{FF2B5EF4-FFF2-40B4-BE49-F238E27FC236}">
                <a16:creationId xmlns:a16="http://schemas.microsoft.com/office/drawing/2014/main" id="{67A9E637-21AB-4DAC-8DD9-58FA6D350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0134600" y="3105150"/>
            <a:ext cx="1333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AD3D4"/>
            </a:solidFill>
            <a:prstDash val="solid"/>
          </a:ln>
        </p:spPr>
      </p:sp>
      <p:sp>
        <p:nvSpPr>
          <p:cNvPr id="106" name="ledger-slot-header">
            <a:extLst xmlns:a="http://schemas.openxmlformats.org/drawingml/2006/main">
              <a:ext uri="{FF2B5EF4-FFF2-40B4-BE49-F238E27FC236}">
                <a16:creationId xmlns:a16="http://schemas.microsoft.com/office/drawing/2014/main" id="{D89A069F-181E-4011-8BA6-189CCF36A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153650" y="3162300"/>
            <a:ext cx="342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37077"/>
                </a:solidFill>
                <a:latin typeface="Arial"/>
                <a:ea typeface="Arial"/>
                <a:cs typeface="Arial"/>
              </a:rPr>
              <a:t>Slot</a:t>
            </a:r>
          </a:p>
        </p:txBody>
      </p:sp>
      <p:sp>
        <p:nvSpPr>
          <p:cNvPr id="107" name="ledger-source-header">
            <a:extLst xmlns:a="http://schemas.openxmlformats.org/drawingml/2006/main">
              <a:ext uri="{FF2B5EF4-FFF2-40B4-BE49-F238E27FC236}">
                <a16:creationId xmlns:a16="http://schemas.microsoft.com/office/drawing/2014/main" id="{3ECE39D2-B2F9-47DC-83F9-3FC6EFA37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629900" y="3162300"/>
            <a:ext cx="838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37077"/>
                </a:solidFill>
                <a:latin typeface="Arial"/>
                <a:ea typeface="Arial"/>
                <a:cs typeface="Arial"/>
              </a:rPr>
              <a:t>Source</a:t>
            </a:r>
          </a:p>
        </p:txBody>
      </p:sp>
      <p:sp>
        <p:nvSpPr>
          <p:cNvPr id="108" name="ledger-slot-1">
            <a:extLst xmlns:a="http://schemas.openxmlformats.org/drawingml/2006/main">
              <a:ext uri="{FF2B5EF4-FFF2-40B4-BE49-F238E27FC236}">
                <a16:creationId xmlns:a16="http://schemas.microsoft.com/office/drawing/2014/main" id="{D5BC0312-0CD9-41E1-BEAE-A49BA8A9E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153650" y="3362325"/>
            <a:ext cx="342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9" name="ledger-source-1">
            <a:extLst xmlns:a="http://schemas.openxmlformats.org/drawingml/2006/main">
              <a:ext uri="{FF2B5EF4-FFF2-40B4-BE49-F238E27FC236}">
                <a16:creationId xmlns:a16="http://schemas.microsoft.com/office/drawing/2014/main" id="{4904B5A4-2BCA-4879-8B34-73AD077F1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629900" y="3362325"/>
            <a:ext cx="8382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6785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6785F"/>
                </a:solidFill>
                <a:latin typeface="Arial"/>
                <a:ea typeface="Arial"/>
                <a:cs typeface="Arial"/>
              </a:rPr>
              <a:t>reserve</a:t>
            </a:r>
          </a:p>
        </p:txBody>
      </p:sp>
      <p:sp>
        <p:nvSpPr>
          <p:cNvPr id="110" name="result-row-divider">
            <a:extLst xmlns:a="http://schemas.openxmlformats.org/drawingml/2006/main">
              <a:ext uri="{FF2B5EF4-FFF2-40B4-BE49-F238E27FC236}">
                <a16:creationId xmlns:a16="http://schemas.microsoft.com/office/drawing/2014/main" id="{42A8C7C7-6A4A-4CED-8309-4B48325BC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0134600" y="3562350"/>
            <a:ext cx="1333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AD3D4"/>
            </a:solidFill>
            <a:prstDash val="solid"/>
          </a:ln>
        </p:spPr>
      </p:sp>
      <p:sp>
        <p:nvSpPr>
          <p:cNvPr id="111" name="ledger-slot-2">
            <a:extLst xmlns:a="http://schemas.openxmlformats.org/drawingml/2006/main">
              <a:ext uri="{FF2B5EF4-FFF2-40B4-BE49-F238E27FC236}">
                <a16:creationId xmlns:a16="http://schemas.microsoft.com/office/drawing/2014/main" id="{A2B67734-FED4-4C9F-95E1-79EDFA743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153650" y="3590925"/>
            <a:ext cx="342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2" name="ledger-source-2">
            <a:extLst xmlns:a="http://schemas.openxmlformats.org/drawingml/2006/main">
              <a:ext uri="{FF2B5EF4-FFF2-40B4-BE49-F238E27FC236}">
                <a16:creationId xmlns:a16="http://schemas.microsoft.com/office/drawing/2014/main" id="{4831BBDD-225D-494A-A2A2-D1C7F3D5A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629900" y="3590925"/>
            <a:ext cx="8382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global fill</a:t>
            </a:r>
          </a:p>
        </p:txBody>
      </p:sp>
      <p:sp>
        <p:nvSpPr>
          <p:cNvPr id="113" name="contract-divider">
            <a:extLst xmlns:a="http://schemas.openxmlformats.org/drawingml/2006/main">
              <a:ext uri="{FF2B5EF4-FFF2-40B4-BE49-F238E27FC236}">
                <a16:creationId xmlns:a16="http://schemas.microsoft.com/office/drawing/2014/main" id="{E7C003B6-43FC-4614-AB36-7C4F6A483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33400" y="516255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4"/>
            </a:solidFill>
            <a:prstDash val="solid"/>
          </a:ln>
        </p:spPr>
      </p:sp>
      <p:sp>
        <p:nvSpPr>
          <p:cNvPr id="114" name="contract-heading">
            <a:extLst xmlns:a="http://schemas.openxmlformats.org/drawingml/2006/main">
              <a:ext uri="{FF2B5EF4-FFF2-40B4-BE49-F238E27FC236}">
                <a16:creationId xmlns:a16="http://schemas.microsoft.com/office/drawing/2014/main" id="{815AB55B-25C6-42F3-B5E4-BCFBCCEE3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3400" y="5238750"/>
            <a:ext cx="11125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Allocation contract</a:t>
            </a:r>
          </a:p>
        </p:txBody>
      </p:sp>
      <p:sp>
        <p:nvSpPr>
          <p:cNvPr id="115" name="contract-copy">
            <a:extLst xmlns:a="http://schemas.openxmlformats.org/drawingml/2006/main">
              <a:ext uri="{FF2B5EF4-FFF2-40B4-BE49-F238E27FC236}">
                <a16:creationId xmlns:a16="http://schemas.microsoft.com/office/drawing/2014/main" id="{6DA88E26-33A1-45D9-A46F-B357CCFDB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3400" y="5476875"/>
            <a:ext cx="1112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Capacity fixed before allocation | stable ties | no duplicate slots | complete source ledger</a:t>
            </a:r>
          </a:p>
        </p:txBody>
      </p:sp>
      <p:sp>
        <p:nvSpPr>
          <p:cNvPr id="116" name="scope-boundary">
            <a:extLst xmlns:a="http://schemas.openxmlformats.org/drawingml/2006/main">
              <a:ext uri="{FF2B5EF4-FFF2-40B4-BE49-F238E27FC236}">
                <a16:creationId xmlns:a16="http://schemas.microsoft.com/office/drawing/2014/main" id="{1E8DE199-A4D3-4FBF-886E-83D334999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3400" y="5734050"/>
            <a:ext cx="11125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Queue entry changes access to review, not the strength or interpretation of the underlying evidence.</a:t>
            </a:r>
          </a:p>
        </p:txBody>
      </p:sp>
    </p:spTree>
    <p:extLst>
      <p:ext uri="{BB962C8B-B14F-4D97-AF65-F5344CB8AC3E}">
        <p14:creationId xmlns:p14="http://schemas.microsoft.com/office/powerpoint/2010/main" val="199421135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2026-07-22T06:15:58.6870000Z</dcterms:created>
  <dcterms:modified xsi:type="dcterms:W3CDTF">2026-07-22T06:15:58.6880000Z</dcterms:modified>
</coreProperties>
</file>